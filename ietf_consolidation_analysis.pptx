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spAutoFit/>
          </a:bodyPr>
          <a:lstStyle/>
          <a:p>
            <a:pPr algn="ctr"/>
            <a:r>
              <a:rPr sz="3600" b="1" i="0">
                <a:solidFill>
                  <a:srgbClr val="FFFFFF"/>
                </a:solidFill>
              </a:rPr>
              <a:t>IETF Agent Authorization</a:t>
            </a:r>
          </a:p>
        </p:txBody>
      </p:sp>
      <p:sp>
        <p:nvSpPr>
          <p:cNvPr id="3" name="TextBox 2"/>
          <p:cNvSpPr txBox="1"/>
          <p:nvPr/>
        </p:nvSpPr>
        <p:spPr>
          <a:xfrm>
            <a:off x="914400" y="2331720"/>
            <a:ext cx="10332720" cy="731520"/>
          </a:xfrm>
          <a:prstGeom prst="rect">
            <a:avLst/>
          </a:prstGeom>
          <a:noFill/>
        </p:spPr>
        <p:txBody>
          <a:bodyPr wrap="square">
            <a:spAutoFit/>
          </a:bodyPr>
          <a:lstStyle/>
          <a:p>
            <a:pPr algn="ctr"/>
            <a:r>
              <a:rPr sz="2800" b="0" i="0">
                <a:solidFill>
                  <a:srgbClr val="B8D0ED"/>
                </a:solidFill>
              </a:rPr>
              <a:t>Cluster Analysis</a:t>
            </a:r>
          </a:p>
        </p:txBody>
      </p:sp>
      <p:sp>
        <p:nvSpPr>
          <p:cNvPr id="4" name="TextBox 3"/>
          <p:cNvSpPr txBox="1"/>
          <p:nvPr/>
        </p:nvSpPr>
        <p:spPr>
          <a:xfrm>
            <a:off x="1371600" y="3246120"/>
            <a:ext cx="9418320" cy="548640"/>
          </a:xfrm>
          <a:prstGeom prst="rect">
            <a:avLst/>
          </a:prstGeom>
          <a:noFill/>
        </p:spPr>
        <p:txBody>
          <a:bodyPr wrap="square">
            <a:spAutoFit/>
          </a:bodyPr>
          <a:lstStyle/>
          <a:p>
            <a:pPr algn="ctr"/>
            <a:r>
              <a:rPr sz="1500" b="0" i="1">
                <a:solidFill>
                  <a:srgbClr val="9ABCD8"/>
                </a:solidFill>
              </a:rPr>
              <a:t>Mapping the individual submission landscape by problem space</a:t>
            </a:r>
          </a:p>
        </p:txBody>
      </p:sp>
      <p:sp>
        <p:nvSpPr>
          <p:cNvPr id="5" name="TextBox 4"/>
          <p:cNvSpPr txBox="1"/>
          <p:nvPr/>
        </p:nvSpPr>
        <p:spPr>
          <a:xfrm>
            <a:off x="1371600" y="6035040"/>
            <a:ext cx="9418320" cy="411480"/>
          </a:xfrm>
          <a:prstGeom prst="rect">
            <a:avLst/>
          </a:prstGeom>
          <a:noFill/>
        </p:spPr>
        <p:txBody>
          <a:bodyPr wrap="square">
            <a:spAutoFit/>
          </a:bodyPr>
          <a:lstStyle/>
          <a:p>
            <a:pPr algn="ctr"/>
            <a:r>
              <a:rPr sz="1100" b="0" i="0">
                <a:solidFill>
                  <a:srgbClr val="78A0BB"/>
                </a:solidFill>
              </a:rPr>
              <a:t>July 2026  ·  99 Active IETF Drafts  ·  OAuth WG + WIMSE WG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WG-Adopted Anchors</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Eight OAuth WG work items serve as the structural anchors for this landscape</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11430000" cy="347472"/>
          </a:xfrm>
          <a:prstGeom prst="rect">
            <a:avLst/>
          </a:prstGeom>
          <a:solidFill>
            <a:srgbClr val="E8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70432"/>
            <a:ext cx="6858000" cy="292608"/>
          </a:xfrm>
          <a:prstGeom prst="rect">
            <a:avLst/>
          </a:prstGeom>
          <a:noFill/>
        </p:spPr>
        <p:txBody>
          <a:bodyPr wrap="square">
            <a:spAutoFit/>
          </a:bodyPr>
          <a:lstStyle/>
          <a:p>
            <a:pPr algn="l"/>
            <a:r>
              <a:rPr sz="1100" b="1" i="0">
                <a:solidFill>
                  <a:srgbClr val="1A3A5C"/>
                </a:solidFill>
              </a:rPr>
              <a:t>Draft</a:t>
            </a:r>
          </a:p>
        </p:txBody>
      </p:sp>
      <p:sp>
        <p:nvSpPr>
          <p:cNvPr id="9" name="TextBox 8"/>
          <p:cNvSpPr txBox="1"/>
          <p:nvPr/>
        </p:nvSpPr>
        <p:spPr>
          <a:xfrm>
            <a:off x="7406640" y="1170432"/>
            <a:ext cx="4297680" cy="292608"/>
          </a:xfrm>
          <a:prstGeom prst="rect">
            <a:avLst/>
          </a:prstGeom>
          <a:noFill/>
        </p:spPr>
        <p:txBody>
          <a:bodyPr wrap="square">
            <a:spAutoFit/>
          </a:bodyPr>
          <a:lstStyle/>
          <a:p>
            <a:pPr algn="l"/>
            <a:r>
              <a:rPr sz="1100" b="1" i="0">
                <a:solidFill>
                  <a:srgbClr val="1A3A5C"/>
                </a:solidFill>
              </a:rPr>
              <a:t>Status</a:t>
            </a:r>
          </a:p>
        </p:txBody>
      </p:sp>
      <p:sp>
        <p:nvSpPr>
          <p:cNvPr id="10" name="Rectangle 9"/>
          <p:cNvSpPr/>
          <p:nvPr/>
        </p:nvSpPr>
        <p:spPr>
          <a:xfrm>
            <a:off x="365760" y="1490472"/>
            <a:ext cx="11430000" cy="466344"/>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563624"/>
            <a:ext cx="6858000" cy="320040"/>
          </a:xfrm>
          <a:prstGeom prst="rect">
            <a:avLst/>
          </a:prstGeom>
          <a:noFill/>
        </p:spPr>
        <p:txBody>
          <a:bodyPr wrap="square">
            <a:spAutoFit/>
          </a:bodyPr>
          <a:lstStyle/>
          <a:p>
            <a:pPr algn="l"/>
            <a:r>
              <a:rPr sz="1050" b="0" i="0">
                <a:solidFill>
                  <a:srgbClr val="256EB4"/>
                </a:solidFill>
              </a:rPr>
              <a:t>draft-ietf-oauth-transaction-tokens</a:t>
            </a:r>
          </a:p>
        </p:txBody>
      </p:sp>
      <p:sp>
        <p:nvSpPr>
          <p:cNvPr id="12" name="TextBox 11"/>
          <p:cNvSpPr txBox="1"/>
          <p:nvPr/>
        </p:nvSpPr>
        <p:spPr>
          <a:xfrm>
            <a:off x="7406640" y="1563624"/>
            <a:ext cx="4297680" cy="320040"/>
          </a:xfrm>
          <a:prstGeom prst="rect">
            <a:avLst/>
          </a:prstGeom>
          <a:noFill/>
        </p:spPr>
        <p:txBody>
          <a:bodyPr wrap="square">
            <a:spAutoFit/>
          </a:bodyPr>
          <a:lstStyle/>
          <a:p>
            <a:pPr algn="l"/>
            <a:r>
              <a:rPr sz="1000" b="0" i="0">
                <a:solidFill>
                  <a:srgbClr val="3C3C3C"/>
                </a:solidFill>
              </a:rPr>
              <a:t>WG, -09 · WGLC</a:t>
            </a:r>
          </a:p>
        </p:txBody>
      </p:sp>
      <p:sp>
        <p:nvSpPr>
          <p:cNvPr id="13" name="Rectangle 12"/>
          <p:cNvSpPr/>
          <p:nvPr/>
        </p:nvSpPr>
        <p:spPr>
          <a:xfrm>
            <a:off x="365760" y="1975104"/>
            <a:ext cx="11430000" cy="466344"/>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48256"/>
            <a:ext cx="6858000" cy="320040"/>
          </a:xfrm>
          <a:prstGeom prst="rect">
            <a:avLst/>
          </a:prstGeom>
          <a:noFill/>
        </p:spPr>
        <p:txBody>
          <a:bodyPr wrap="square">
            <a:spAutoFit/>
          </a:bodyPr>
          <a:lstStyle/>
          <a:p>
            <a:pPr algn="l"/>
            <a:r>
              <a:rPr sz="1050" b="0" i="0">
                <a:solidFill>
                  <a:srgbClr val="008280"/>
                </a:solidFill>
              </a:rPr>
              <a:t>draft-ietf-oauth-identity-chaining</a:t>
            </a:r>
          </a:p>
        </p:txBody>
      </p:sp>
      <p:sp>
        <p:nvSpPr>
          <p:cNvPr id="15" name="TextBox 14"/>
          <p:cNvSpPr txBox="1"/>
          <p:nvPr/>
        </p:nvSpPr>
        <p:spPr>
          <a:xfrm>
            <a:off x="7406640" y="2048256"/>
            <a:ext cx="4297680" cy="320040"/>
          </a:xfrm>
          <a:prstGeom prst="rect">
            <a:avLst/>
          </a:prstGeom>
          <a:noFill/>
        </p:spPr>
        <p:txBody>
          <a:bodyPr wrap="square">
            <a:spAutoFit/>
          </a:bodyPr>
          <a:lstStyle/>
          <a:p>
            <a:pPr algn="l"/>
            <a:r>
              <a:rPr sz="1000" b="0" i="0">
                <a:solidFill>
                  <a:srgbClr val="008280"/>
                </a:solidFill>
              </a:rPr>
              <a:t>IESG-approved, RFC Editor queue</a:t>
            </a:r>
          </a:p>
        </p:txBody>
      </p:sp>
      <p:sp>
        <p:nvSpPr>
          <p:cNvPr id="16" name="Rectangle 15"/>
          <p:cNvSpPr/>
          <p:nvPr/>
        </p:nvSpPr>
        <p:spPr>
          <a:xfrm>
            <a:off x="365760" y="2459736"/>
            <a:ext cx="11430000" cy="466344"/>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532888"/>
            <a:ext cx="6858000" cy="320040"/>
          </a:xfrm>
          <a:prstGeom prst="rect">
            <a:avLst/>
          </a:prstGeom>
          <a:noFill/>
        </p:spPr>
        <p:txBody>
          <a:bodyPr wrap="square">
            <a:spAutoFit/>
          </a:bodyPr>
          <a:lstStyle/>
          <a:p>
            <a:pPr algn="l"/>
            <a:r>
              <a:rPr sz="1050" b="0" i="0">
                <a:solidFill>
                  <a:srgbClr val="256EB4"/>
                </a:solidFill>
              </a:rPr>
              <a:t>draft-ietf-oauth-identity-assertion-authz-grant</a:t>
            </a:r>
          </a:p>
        </p:txBody>
      </p:sp>
      <p:sp>
        <p:nvSpPr>
          <p:cNvPr id="18" name="TextBox 17"/>
          <p:cNvSpPr txBox="1"/>
          <p:nvPr/>
        </p:nvSpPr>
        <p:spPr>
          <a:xfrm>
            <a:off x="7406640" y="2532888"/>
            <a:ext cx="4297680" cy="320040"/>
          </a:xfrm>
          <a:prstGeom prst="rect">
            <a:avLst/>
          </a:prstGeom>
          <a:noFill/>
        </p:spPr>
        <p:txBody>
          <a:bodyPr wrap="square">
            <a:spAutoFit/>
          </a:bodyPr>
          <a:lstStyle/>
          <a:p>
            <a:pPr algn="l"/>
            <a:r>
              <a:rPr sz="1000" b="0" i="0">
                <a:solidFill>
                  <a:srgbClr val="3C3C3C"/>
                </a:solidFill>
              </a:rPr>
              <a:t>WG, -03</a:t>
            </a:r>
          </a:p>
        </p:txBody>
      </p:sp>
      <p:sp>
        <p:nvSpPr>
          <p:cNvPr id="19" name="Rectangle 18"/>
          <p:cNvSpPr/>
          <p:nvPr/>
        </p:nvSpPr>
        <p:spPr>
          <a:xfrm>
            <a:off x="365760" y="2944368"/>
            <a:ext cx="11430000" cy="466344"/>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17520"/>
            <a:ext cx="6858000" cy="320040"/>
          </a:xfrm>
          <a:prstGeom prst="rect">
            <a:avLst/>
          </a:prstGeom>
          <a:noFill/>
        </p:spPr>
        <p:txBody>
          <a:bodyPr wrap="square">
            <a:spAutoFit/>
          </a:bodyPr>
          <a:lstStyle/>
          <a:p>
            <a:pPr algn="l"/>
            <a:r>
              <a:rPr sz="1050" b="0" i="0">
                <a:solidFill>
                  <a:srgbClr val="256EB4"/>
                </a:solidFill>
              </a:rPr>
              <a:t>draft-ietf-oauth-attestation-based-client-auth</a:t>
            </a:r>
          </a:p>
        </p:txBody>
      </p:sp>
      <p:sp>
        <p:nvSpPr>
          <p:cNvPr id="21" name="TextBox 20"/>
          <p:cNvSpPr txBox="1"/>
          <p:nvPr/>
        </p:nvSpPr>
        <p:spPr>
          <a:xfrm>
            <a:off x="7406640" y="3017520"/>
            <a:ext cx="4297680" cy="320040"/>
          </a:xfrm>
          <a:prstGeom prst="rect">
            <a:avLst/>
          </a:prstGeom>
          <a:noFill/>
        </p:spPr>
        <p:txBody>
          <a:bodyPr wrap="square">
            <a:spAutoFit/>
          </a:bodyPr>
          <a:lstStyle/>
          <a:p>
            <a:pPr algn="l"/>
            <a:r>
              <a:rPr sz="1000" b="0" i="0">
                <a:solidFill>
                  <a:srgbClr val="3C3C3C"/>
                </a:solidFill>
              </a:rPr>
              <a:t>WG, -10</a:t>
            </a:r>
          </a:p>
        </p:txBody>
      </p:sp>
      <p:sp>
        <p:nvSpPr>
          <p:cNvPr id="22" name="Rectangle 21"/>
          <p:cNvSpPr/>
          <p:nvPr/>
        </p:nvSpPr>
        <p:spPr>
          <a:xfrm>
            <a:off x="365760" y="3429000"/>
            <a:ext cx="11430000" cy="466344"/>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502152"/>
            <a:ext cx="6858000" cy="320040"/>
          </a:xfrm>
          <a:prstGeom prst="rect">
            <a:avLst/>
          </a:prstGeom>
          <a:noFill/>
        </p:spPr>
        <p:txBody>
          <a:bodyPr wrap="square">
            <a:spAutoFit/>
          </a:bodyPr>
          <a:lstStyle/>
          <a:p>
            <a:pPr algn="l"/>
            <a:r>
              <a:rPr sz="1050" b="0" i="0">
                <a:solidFill>
                  <a:srgbClr val="256EB4"/>
                </a:solidFill>
              </a:rPr>
              <a:t>draft-ietf-oauth-first-party-apps</a:t>
            </a:r>
          </a:p>
        </p:txBody>
      </p:sp>
      <p:sp>
        <p:nvSpPr>
          <p:cNvPr id="24" name="TextBox 23"/>
          <p:cNvSpPr txBox="1"/>
          <p:nvPr/>
        </p:nvSpPr>
        <p:spPr>
          <a:xfrm>
            <a:off x="7406640" y="3502152"/>
            <a:ext cx="4297680" cy="320040"/>
          </a:xfrm>
          <a:prstGeom prst="rect">
            <a:avLst/>
          </a:prstGeom>
          <a:noFill/>
        </p:spPr>
        <p:txBody>
          <a:bodyPr wrap="square">
            <a:spAutoFit/>
          </a:bodyPr>
          <a:lstStyle/>
          <a:p>
            <a:pPr algn="l"/>
            <a:r>
              <a:rPr sz="1000" b="0" i="0">
                <a:solidFill>
                  <a:srgbClr val="3C3C3C"/>
                </a:solidFill>
              </a:rPr>
              <a:t>WG, -04</a:t>
            </a:r>
          </a:p>
        </p:txBody>
      </p:sp>
      <p:sp>
        <p:nvSpPr>
          <p:cNvPr id="25" name="Rectangle 24"/>
          <p:cNvSpPr/>
          <p:nvPr/>
        </p:nvSpPr>
        <p:spPr>
          <a:xfrm>
            <a:off x="365760" y="3913632"/>
            <a:ext cx="11430000" cy="466344"/>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986784"/>
            <a:ext cx="6858000" cy="320040"/>
          </a:xfrm>
          <a:prstGeom prst="rect">
            <a:avLst/>
          </a:prstGeom>
          <a:noFill/>
        </p:spPr>
        <p:txBody>
          <a:bodyPr wrap="square">
            <a:spAutoFit/>
          </a:bodyPr>
          <a:lstStyle/>
          <a:p>
            <a:pPr algn="l"/>
            <a:r>
              <a:rPr sz="1050" b="0" i="0">
                <a:solidFill>
                  <a:srgbClr val="256EB4"/>
                </a:solidFill>
              </a:rPr>
              <a:t>draft-ietf-oauth-spiffe-client-auth</a:t>
            </a:r>
          </a:p>
        </p:txBody>
      </p:sp>
      <p:sp>
        <p:nvSpPr>
          <p:cNvPr id="27" name="TextBox 26"/>
          <p:cNvSpPr txBox="1"/>
          <p:nvPr/>
        </p:nvSpPr>
        <p:spPr>
          <a:xfrm>
            <a:off x="7406640" y="3986784"/>
            <a:ext cx="4297680" cy="320040"/>
          </a:xfrm>
          <a:prstGeom prst="rect">
            <a:avLst/>
          </a:prstGeom>
          <a:noFill/>
        </p:spPr>
        <p:txBody>
          <a:bodyPr wrap="square">
            <a:spAutoFit/>
          </a:bodyPr>
          <a:lstStyle/>
          <a:p>
            <a:pPr algn="l"/>
            <a:r>
              <a:rPr sz="1000" b="0" i="0">
                <a:solidFill>
                  <a:srgbClr val="3C3C3C"/>
                </a:solidFill>
              </a:rPr>
              <a:t>WG (adopted from schwenkschuster), -01</a:t>
            </a:r>
          </a:p>
        </p:txBody>
      </p:sp>
      <p:sp>
        <p:nvSpPr>
          <p:cNvPr id="28" name="Rectangle 27"/>
          <p:cNvSpPr/>
          <p:nvPr/>
        </p:nvSpPr>
        <p:spPr>
          <a:xfrm>
            <a:off x="365760" y="4398264"/>
            <a:ext cx="11430000" cy="466344"/>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471416"/>
            <a:ext cx="6858000" cy="320040"/>
          </a:xfrm>
          <a:prstGeom prst="rect">
            <a:avLst/>
          </a:prstGeom>
          <a:noFill/>
        </p:spPr>
        <p:txBody>
          <a:bodyPr wrap="square">
            <a:spAutoFit/>
          </a:bodyPr>
          <a:lstStyle/>
          <a:p>
            <a:pPr algn="l"/>
            <a:r>
              <a:rPr sz="1050" b="0" i="0">
                <a:solidFill>
                  <a:srgbClr val="256EB4"/>
                </a:solidFill>
              </a:rPr>
              <a:t>draft-ietf-oauth-browser-based-apps</a:t>
            </a:r>
          </a:p>
        </p:txBody>
      </p:sp>
      <p:sp>
        <p:nvSpPr>
          <p:cNvPr id="30" name="TextBox 29"/>
          <p:cNvSpPr txBox="1"/>
          <p:nvPr/>
        </p:nvSpPr>
        <p:spPr>
          <a:xfrm>
            <a:off x="7406640" y="4471416"/>
            <a:ext cx="4297680" cy="320040"/>
          </a:xfrm>
          <a:prstGeom prst="rect">
            <a:avLst/>
          </a:prstGeom>
          <a:noFill/>
        </p:spPr>
        <p:txBody>
          <a:bodyPr wrap="square">
            <a:spAutoFit/>
          </a:bodyPr>
          <a:lstStyle/>
          <a:p>
            <a:pPr algn="l"/>
            <a:r>
              <a:rPr sz="1000" b="0" i="0">
                <a:solidFill>
                  <a:srgbClr val="3C3C3C"/>
                </a:solidFill>
              </a:rPr>
              <a:t>WG, -26</a:t>
            </a:r>
          </a:p>
        </p:txBody>
      </p:sp>
      <p:sp>
        <p:nvSpPr>
          <p:cNvPr id="31" name="Rectangle 30"/>
          <p:cNvSpPr/>
          <p:nvPr/>
        </p:nvSpPr>
        <p:spPr>
          <a:xfrm>
            <a:off x="365760" y="4882896"/>
            <a:ext cx="11430000" cy="466344"/>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956048"/>
            <a:ext cx="6858000" cy="320040"/>
          </a:xfrm>
          <a:prstGeom prst="rect">
            <a:avLst/>
          </a:prstGeom>
          <a:noFill/>
        </p:spPr>
        <p:txBody>
          <a:bodyPr wrap="square">
            <a:spAutoFit/>
          </a:bodyPr>
          <a:lstStyle/>
          <a:p>
            <a:pPr algn="l"/>
            <a:r>
              <a:rPr sz="1050" b="0" i="0">
                <a:solidFill>
                  <a:srgbClr val="256EB4"/>
                </a:solidFill>
              </a:rPr>
              <a:t>draft-ietf-oauth-security-topics-update</a:t>
            </a:r>
          </a:p>
        </p:txBody>
      </p:sp>
      <p:sp>
        <p:nvSpPr>
          <p:cNvPr id="33" name="TextBox 32"/>
          <p:cNvSpPr txBox="1"/>
          <p:nvPr/>
        </p:nvSpPr>
        <p:spPr>
          <a:xfrm>
            <a:off x="7406640" y="4956048"/>
            <a:ext cx="4297680" cy="320040"/>
          </a:xfrm>
          <a:prstGeom prst="rect">
            <a:avLst/>
          </a:prstGeom>
          <a:noFill/>
        </p:spPr>
        <p:txBody>
          <a:bodyPr wrap="square">
            <a:spAutoFit/>
          </a:bodyPr>
          <a:lstStyle/>
          <a:p>
            <a:pPr algn="l"/>
            <a:r>
              <a:rPr sz="1000" b="0" i="0">
                <a:solidFill>
                  <a:srgbClr val="3C3C3C"/>
                </a:solidFill>
              </a:rPr>
              <a:t>WG, -01</a:t>
            </a:r>
          </a:p>
        </p:txBody>
      </p:sp>
      <p:sp>
        <p:nvSpPr>
          <p:cNvPr id="34" name="TextBox 33"/>
          <p:cNvSpPr txBox="1"/>
          <p:nvPr/>
        </p:nvSpPr>
        <p:spPr>
          <a:xfrm>
            <a:off x="365760" y="6016752"/>
            <a:ext cx="11430000" cy="347472"/>
          </a:xfrm>
          <a:prstGeom prst="rect">
            <a:avLst/>
          </a:prstGeom>
          <a:noFill/>
        </p:spPr>
        <p:txBody>
          <a:bodyPr wrap="square">
            <a:spAutoFit/>
          </a:bodyPr>
          <a:lstStyle/>
          <a:p>
            <a:pPr algn="l"/>
            <a:r>
              <a:rPr sz="900" b="0" i="1">
                <a:solidFill>
                  <a:srgbClr val="888888"/>
                </a:solidFill>
              </a:rPr>
              <a:t>WIMSE WG has its own adopted core suite (arch, identifier, mutual-tls, http-signature) — treated as a separate WG throughout.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Nine Clusters</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All 99 active drafts grouped by target problem space</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274320" y="1115568"/>
            <a:ext cx="11612880" cy="347472"/>
          </a:xfrm>
          <a:prstGeom prst="rect">
            <a:avLst/>
          </a:prstGeom>
          <a:solidFill>
            <a:srgbClr val="E8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3000"/>
            <a:ext cx="548640" cy="292608"/>
          </a:xfrm>
          <a:prstGeom prst="rect">
            <a:avLst/>
          </a:prstGeom>
          <a:noFill/>
        </p:spPr>
        <p:txBody>
          <a:bodyPr wrap="square">
            <a:spAutoFit/>
          </a:bodyPr>
          <a:lstStyle/>
          <a:p>
            <a:pPr algn="l"/>
            <a:r>
              <a:rPr sz="1000" b="1" i="0">
                <a:solidFill>
                  <a:srgbClr val="1A3A5C"/>
                </a:solidFill>
              </a:rPr>
              <a:t/>
            </a:r>
          </a:p>
        </p:txBody>
      </p:sp>
      <p:sp>
        <p:nvSpPr>
          <p:cNvPr id="9" name="TextBox 8"/>
          <p:cNvSpPr txBox="1"/>
          <p:nvPr/>
        </p:nvSpPr>
        <p:spPr>
          <a:xfrm>
            <a:off x="960120" y="1143000"/>
            <a:ext cx="4114800" cy="292608"/>
          </a:xfrm>
          <a:prstGeom prst="rect">
            <a:avLst/>
          </a:prstGeom>
          <a:noFill/>
        </p:spPr>
        <p:txBody>
          <a:bodyPr wrap="square">
            <a:spAutoFit/>
          </a:bodyPr>
          <a:lstStyle/>
          <a:p>
            <a:pPr algn="l"/>
            <a:r>
              <a:rPr sz="1000" b="1" i="0">
                <a:solidFill>
                  <a:srgbClr val="1A3A5C"/>
                </a:solidFill>
              </a:rPr>
              <a:t>Cluster</a:t>
            </a:r>
          </a:p>
        </p:txBody>
      </p:sp>
      <p:sp>
        <p:nvSpPr>
          <p:cNvPr id="10" name="TextBox 9"/>
          <p:cNvSpPr txBox="1"/>
          <p:nvPr/>
        </p:nvSpPr>
        <p:spPr>
          <a:xfrm>
            <a:off x="5166360" y="1143000"/>
            <a:ext cx="6675120" cy="292608"/>
          </a:xfrm>
          <a:prstGeom prst="rect">
            <a:avLst/>
          </a:prstGeom>
          <a:noFill/>
        </p:spPr>
        <p:txBody>
          <a:bodyPr wrap="square">
            <a:spAutoFit/>
          </a:bodyPr>
          <a:lstStyle/>
          <a:p>
            <a:pPr algn="l"/>
            <a:r>
              <a:rPr sz="1000" b="1" i="0">
                <a:solidFill>
                  <a:srgbClr val="1A3A5C"/>
                </a:solidFill>
              </a:rPr>
              <a:t>WG anchors</a:t>
            </a:r>
          </a:p>
        </p:txBody>
      </p:sp>
      <p:sp>
        <p:nvSpPr>
          <p:cNvPr id="11" name="TextBox 10"/>
          <p:cNvSpPr txBox="1"/>
          <p:nvPr/>
        </p:nvSpPr>
        <p:spPr>
          <a:xfrm>
            <a:off x="960120" y="1143000"/>
            <a:ext cx="4114800" cy="292608"/>
          </a:xfrm>
          <a:prstGeom prst="rect">
            <a:avLst/>
          </a:prstGeom>
          <a:noFill/>
        </p:spPr>
        <p:txBody>
          <a:bodyPr wrap="square">
            <a:spAutoFit/>
          </a:bodyPr>
          <a:lstStyle/>
          <a:p>
            <a:pPr algn="l"/>
            <a:r>
              <a:rPr sz="1000" b="1" i="0">
                <a:solidFill>
                  <a:srgbClr val="1A3A5C"/>
                </a:solidFill>
              </a:rPr>
              <a:t>Cluster</a:t>
            </a:r>
          </a:p>
        </p:txBody>
      </p:sp>
      <p:sp>
        <p:nvSpPr>
          <p:cNvPr id="12" name="TextBox 11"/>
          <p:cNvSpPr txBox="1"/>
          <p:nvPr/>
        </p:nvSpPr>
        <p:spPr>
          <a:xfrm>
            <a:off x="5166360" y="1143000"/>
            <a:ext cx="6675120" cy="292608"/>
          </a:xfrm>
          <a:prstGeom prst="rect">
            <a:avLst/>
          </a:prstGeom>
          <a:noFill/>
        </p:spPr>
        <p:txBody>
          <a:bodyPr wrap="square">
            <a:spAutoFit/>
          </a:bodyPr>
          <a:lstStyle/>
          <a:p>
            <a:pPr algn="l"/>
            <a:r>
              <a:rPr sz="1000" b="1" i="0">
                <a:solidFill>
                  <a:srgbClr val="1A3A5C"/>
                </a:solidFill>
              </a:rPr>
              <a:t>WG anchors in this space</a:t>
            </a:r>
          </a:p>
        </p:txBody>
      </p:sp>
      <p:sp>
        <p:nvSpPr>
          <p:cNvPr id="13" name="Rectangle 12"/>
          <p:cNvSpPr/>
          <p:nvPr/>
        </p:nvSpPr>
        <p:spPr>
          <a:xfrm>
            <a:off x="274320" y="1463040"/>
            <a:ext cx="11612880" cy="475488"/>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1463040"/>
            <a:ext cx="548640" cy="47548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1554480"/>
            <a:ext cx="548640" cy="292608"/>
          </a:xfrm>
          <a:prstGeom prst="rect">
            <a:avLst/>
          </a:prstGeom>
          <a:noFill/>
        </p:spPr>
        <p:txBody>
          <a:bodyPr wrap="square">
            <a:spAutoFit/>
          </a:bodyPr>
          <a:lstStyle/>
          <a:p>
            <a:pPr algn="ctr"/>
            <a:r>
              <a:rPr sz="1400" b="1" i="0">
                <a:solidFill>
                  <a:srgbClr val="FFFFFF"/>
                </a:solidFill>
              </a:rPr>
              <a:t>A</a:t>
            </a:r>
          </a:p>
        </p:txBody>
      </p:sp>
      <p:sp>
        <p:nvSpPr>
          <p:cNvPr id="16" name="TextBox 15"/>
          <p:cNvSpPr txBox="1"/>
          <p:nvPr/>
        </p:nvSpPr>
        <p:spPr>
          <a:xfrm>
            <a:off x="960120" y="1554480"/>
            <a:ext cx="4114800" cy="292608"/>
          </a:xfrm>
          <a:prstGeom prst="rect">
            <a:avLst/>
          </a:prstGeom>
          <a:noFill/>
        </p:spPr>
        <p:txBody>
          <a:bodyPr wrap="square">
            <a:spAutoFit/>
          </a:bodyPr>
          <a:lstStyle/>
          <a:p>
            <a:pPr algn="l"/>
            <a:r>
              <a:rPr sz="1050" b="0" i="0">
                <a:solidFill>
                  <a:srgbClr val="3C3C3C"/>
                </a:solidFill>
              </a:rPr>
              <a:t>Transaction Token extensions</a:t>
            </a:r>
          </a:p>
        </p:txBody>
      </p:sp>
      <p:sp>
        <p:nvSpPr>
          <p:cNvPr id="17" name="TextBox 16"/>
          <p:cNvSpPr txBox="1"/>
          <p:nvPr/>
        </p:nvSpPr>
        <p:spPr>
          <a:xfrm>
            <a:off x="5166360" y="1554480"/>
            <a:ext cx="6675120" cy="292608"/>
          </a:xfrm>
          <a:prstGeom prst="rect">
            <a:avLst/>
          </a:prstGeom>
          <a:noFill/>
        </p:spPr>
        <p:txBody>
          <a:bodyPr wrap="square">
            <a:spAutoFit/>
          </a:bodyPr>
          <a:lstStyle/>
          <a:p>
            <a:pPr algn="l"/>
            <a:r>
              <a:rPr sz="1000" b="0" i="0">
                <a:solidFill>
                  <a:srgbClr val="256EB4"/>
                </a:solidFill>
              </a:rPr>
              <a:t>1 (txn-tokens, WGLC)</a:t>
            </a:r>
          </a:p>
        </p:txBody>
      </p:sp>
      <p:sp>
        <p:nvSpPr>
          <p:cNvPr id="18" name="Rectangle 17"/>
          <p:cNvSpPr/>
          <p:nvPr/>
        </p:nvSpPr>
        <p:spPr>
          <a:xfrm>
            <a:off x="274320" y="1956816"/>
            <a:ext cx="11612880" cy="475488"/>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956816"/>
            <a:ext cx="548640" cy="47548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2048256"/>
            <a:ext cx="548640" cy="292608"/>
          </a:xfrm>
          <a:prstGeom prst="rect">
            <a:avLst/>
          </a:prstGeom>
          <a:noFill/>
        </p:spPr>
        <p:txBody>
          <a:bodyPr wrap="square">
            <a:spAutoFit/>
          </a:bodyPr>
          <a:lstStyle/>
          <a:p>
            <a:pPr algn="ctr"/>
            <a:r>
              <a:rPr sz="1400" b="1" i="0">
                <a:solidFill>
                  <a:srgbClr val="FFFFFF"/>
                </a:solidFill>
              </a:rPr>
              <a:t>B</a:t>
            </a:r>
          </a:p>
        </p:txBody>
      </p:sp>
      <p:sp>
        <p:nvSpPr>
          <p:cNvPr id="21" name="TextBox 20"/>
          <p:cNvSpPr txBox="1"/>
          <p:nvPr/>
        </p:nvSpPr>
        <p:spPr>
          <a:xfrm>
            <a:off x="960120" y="2048256"/>
            <a:ext cx="4114800" cy="292608"/>
          </a:xfrm>
          <a:prstGeom prst="rect">
            <a:avLst/>
          </a:prstGeom>
          <a:noFill/>
        </p:spPr>
        <p:txBody>
          <a:bodyPr wrap="square">
            <a:spAutoFit/>
          </a:bodyPr>
          <a:lstStyle/>
          <a:p>
            <a:pPr algn="l"/>
            <a:r>
              <a:rPr sz="1050" b="0" i="0">
                <a:solidFill>
                  <a:srgbClr val="3C3C3C"/>
                </a:solidFill>
              </a:rPr>
              <a:t>Cross-domain identity</a:t>
            </a:r>
          </a:p>
        </p:txBody>
      </p:sp>
      <p:sp>
        <p:nvSpPr>
          <p:cNvPr id="22" name="TextBox 21"/>
          <p:cNvSpPr txBox="1"/>
          <p:nvPr/>
        </p:nvSpPr>
        <p:spPr>
          <a:xfrm>
            <a:off x="5166360" y="2048256"/>
            <a:ext cx="6675120" cy="292608"/>
          </a:xfrm>
          <a:prstGeom prst="rect">
            <a:avLst/>
          </a:prstGeom>
          <a:noFill/>
        </p:spPr>
        <p:txBody>
          <a:bodyPr wrap="square">
            <a:spAutoFit/>
          </a:bodyPr>
          <a:lstStyle/>
          <a:p>
            <a:pPr algn="l"/>
            <a:r>
              <a:rPr sz="1000" b="0" i="0">
                <a:solidFill>
                  <a:srgbClr val="008280"/>
                </a:solidFill>
              </a:rPr>
              <a:t>1 (identity-chaining, closed)</a:t>
            </a:r>
          </a:p>
        </p:txBody>
      </p:sp>
      <p:sp>
        <p:nvSpPr>
          <p:cNvPr id="23" name="Rectangle 22"/>
          <p:cNvSpPr/>
          <p:nvPr/>
        </p:nvSpPr>
        <p:spPr>
          <a:xfrm>
            <a:off x="274320" y="2450592"/>
            <a:ext cx="11612880" cy="475488"/>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2450592"/>
            <a:ext cx="548640" cy="47548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2542032"/>
            <a:ext cx="548640" cy="292608"/>
          </a:xfrm>
          <a:prstGeom prst="rect">
            <a:avLst/>
          </a:prstGeom>
          <a:noFill/>
        </p:spPr>
        <p:txBody>
          <a:bodyPr wrap="square">
            <a:spAutoFit/>
          </a:bodyPr>
          <a:lstStyle/>
          <a:p>
            <a:pPr algn="ctr"/>
            <a:r>
              <a:rPr sz="1400" b="1" i="0">
                <a:solidFill>
                  <a:srgbClr val="FFFFFF"/>
                </a:solidFill>
              </a:rPr>
              <a:t>C</a:t>
            </a:r>
          </a:p>
        </p:txBody>
      </p:sp>
      <p:sp>
        <p:nvSpPr>
          <p:cNvPr id="26" name="TextBox 25"/>
          <p:cNvSpPr txBox="1"/>
          <p:nvPr/>
        </p:nvSpPr>
        <p:spPr>
          <a:xfrm>
            <a:off x="960120" y="2542032"/>
            <a:ext cx="4114800" cy="292608"/>
          </a:xfrm>
          <a:prstGeom prst="rect">
            <a:avLst/>
          </a:prstGeom>
          <a:noFill/>
        </p:spPr>
        <p:txBody>
          <a:bodyPr wrap="square">
            <a:spAutoFit/>
          </a:bodyPr>
          <a:lstStyle/>
          <a:p>
            <a:pPr algn="l"/>
            <a:r>
              <a:rPr sz="1050" b="0" i="0">
                <a:solidFill>
                  <a:srgbClr val="3C3C3C"/>
                </a:solidFill>
              </a:rPr>
              <a:t>Client / instance auth</a:t>
            </a:r>
          </a:p>
        </p:txBody>
      </p:sp>
      <p:sp>
        <p:nvSpPr>
          <p:cNvPr id="27" name="TextBox 26"/>
          <p:cNvSpPr txBox="1"/>
          <p:nvPr/>
        </p:nvSpPr>
        <p:spPr>
          <a:xfrm>
            <a:off x="5166360" y="2542032"/>
            <a:ext cx="6675120" cy="292608"/>
          </a:xfrm>
          <a:prstGeom prst="rect">
            <a:avLst/>
          </a:prstGeom>
          <a:noFill/>
        </p:spPr>
        <p:txBody>
          <a:bodyPr wrap="square">
            <a:spAutoFit/>
          </a:bodyPr>
          <a:lstStyle/>
          <a:p>
            <a:pPr algn="l"/>
            <a:r>
              <a:rPr sz="1000" b="0" i="0">
                <a:solidFill>
                  <a:srgbClr val="256EB4"/>
                </a:solidFill>
              </a:rPr>
              <a:t>1 (attestation-based)</a:t>
            </a:r>
          </a:p>
        </p:txBody>
      </p:sp>
      <p:sp>
        <p:nvSpPr>
          <p:cNvPr id="28" name="Rectangle 27"/>
          <p:cNvSpPr/>
          <p:nvPr/>
        </p:nvSpPr>
        <p:spPr>
          <a:xfrm>
            <a:off x="274320" y="2944368"/>
            <a:ext cx="11612880" cy="475488"/>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2944368"/>
            <a:ext cx="548640" cy="47548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3035808"/>
            <a:ext cx="548640" cy="292608"/>
          </a:xfrm>
          <a:prstGeom prst="rect">
            <a:avLst/>
          </a:prstGeom>
          <a:noFill/>
        </p:spPr>
        <p:txBody>
          <a:bodyPr wrap="square">
            <a:spAutoFit/>
          </a:bodyPr>
          <a:lstStyle/>
          <a:p>
            <a:pPr algn="ctr"/>
            <a:r>
              <a:rPr sz="1400" b="1" i="0">
                <a:solidFill>
                  <a:srgbClr val="FFFFFF"/>
                </a:solidFill>
              </a:rPr>
              <a:t>D</a:t>
            </a:r>
          </a:p>
        </p:txBody>
      </p:sp>
      <p:sp>
        <p:nvSpPr>
          <p:cNvPr id="31" name="TextBox 30"/>
          <p:cNvSpPr txBox="1"/>
          <p:nvPr/>
        </p:nvSpPr>
        <p:spPr>
          <a:xfrm>
            <a:off x="960120" y="3035808"/>
            <a:ext cx="4114800" cy="292608"/>
          </a:xfrm>
          <a:prstGeom prst="rect">
            <a:avLst/>
          </a:prstGeom>
          <a:noFill/>
        </p:spPr>
        <p:txBody>
          <a:bodyPr wrap="square">
            <a:spAutoFit/>
          </a:bodyPr>
          <a:lstStyle/>
          <a:p>
            <a:pPr algn="l"/>
            <a:r>
              <a:rPr sz="1050" b="0" i="0">
                <a:solidFill>
                  <a:srgbClr val="3C3C3C"/>
                </a:solidFill>
              </a:rPr>
              <a:t>Actor chain representation</a:t>
            </a:r>
          </a:p>
        </p:txBody>
      </p:sp>
      <p:sp>
        <p:nvSpPr>
          <p:cNvPr id="32" name="TextBox 31"/>
          <p:cNvSpPr txBox="1"/>
          <p:nvPr/>
        </p:nvSpPr>
        <p:spPr>
          <a:xfrm>
            <a:off x="5166360" y="3035808"/>
            <a:ext cx="6675120" cy="292608"/>
          </a:xfrm>
          <a:prstGeom prst="rect">
            <a:avLst/>
          </a:prstGeom>
          <a:noFill/>
        </p:spPr>
        <p:txBody>
          <a:bodyPr wrap="square">
            <a:spAutoFit/>
          </a:bodyPr>
          <a:lstStyle/>
          <a:p>
            <a:pPr algn="l"/>
            <a:r>
              <a:rPr sz="1000" b="0" i="0">
                <a:solidFill>
                  <a:srgbClr val="C46200"/>
                </a:solidFill>
              </a:rPr>
              <a:t>0</a:t>
            </a:r>
          </a:p>
        </p:txBody>
      </p:sp>
      <p:sp>
        <p:nvSpPr>
          <p:cNvPr id="33" name="Rectangle 32"/>
          <p:cNvSpPr/>
          <p:nvPr/>
        </p:nvSpPr>
        <p:spPr>
          <a:xfrm>
            <a:off x="274320" y="3438144"/>
            <a:ext cx="11612880" cy="475488"/>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3438144"/>
            <a:ext cx="548640" cy="47548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3529584"/>
            <a:ext cx="548640" cy="292608"/>
          </a:xfrm>
          <a:prstGeom prst="rect">
            <a:avLst/>
          </a:prstGeom>
          <a:noFill/>
        </p:spPr>
        <p:txBody>
          <a:bodyPr wrap="square">
            <a:spAutoFit/>
          </a:bodyPr>
          <a:lstStyle/>
          <a:p>
            <a:pPr algn="ctr"/>
            <a:r>
              <a:rPr sz="1400" b="1" i="0">
                <a:solidFill>
                  <a:srgbClr val="FFFFFF"/>
                </a:solidFill>
              </a:rPr>
              <a:t>E</a:t>
            </a:r>
          </a:p>
        </p:txBody>
      </p:sp>
      <p:sp>
        <p:nvSpPr>
          <p:cNvPr id="36" name="TextBox 35"/>
          <p:cNvSpPr txBox="1"/>
          <p:nvPr/>
        </p:nvSpPr>
        <p:spPr>
          <a:xfrm>
            <a:off x="960120" y="3529584"/>
            <a:ext cx="4114800" cy="292608"/>
          </a:xfrm>
          <a:prstGeom prst="rect">
            <a:avLst/>
          </a:prstGeom>
          <a:noFill/>
        </p:spPr>
        <p:txBody>
          <a:bodyPr wrap="square">
            <a:spAutoFit/>
          </a:bodyPr>
          <a:lstStyle/>
          <a:p>
            <a:pPr algn="l"/>
            <a:r>
              <a:rPr sz="1050" b="0" i="0">
                <a:solidFill>
                  <a:srgbClr val="3C3C3C"/>
                </a:solidFill>
              </a:rPr>
              <a:t>Token attenuation</a:t>
            </a:r>
          </a:p>
        </p:txBody>
      </p:sp>
      <p:sp>
        <p:nvSpPr>
          <p:cNvPr id="37" name="TextBox 36"/>
          <p:cNvSpPr txBox="1"/>
          <p:nvPr/>
        </p:nvSpPr>
        <p:spPr>
          <a:xfrm>
            <a:off x="5166360" y="3529584"/>
            <a:ext cx="6675120" cy="292608"/>
          </a:xfrm>
          <a:prstGeom prst="rect">
            <a:avLst/>
          </a:prstGeom>
          <a:noFill/>
        </p:spPr>
        <p:txBody>
          <a:bodyPr wrap="square">
            <a:spAutoFit/>
          </a:bodyPr>
          <a:lstStyle/>
          <a:p>
            <a:pPr algn="l"/>
            <a:r>
              <a:rPr sz="1000" b="0" i="0">
                <a:solidFill>
                  <a:srgbClr val="C46200"/>
                </a:solidFill>
              </a:rPr>
              <a:t>0</a:t>
            </a:r>
          </a:p>
        </p:txBody>
      </p:sp>
      <p:sp>
        <p:nvSpPr>
          <p:cNvPr id="38" name="Rectangle 37"/>
          <p:cNvSpPr/>
          <p:nvPr/>
        </p:nvSpPr>
        <p:spPr>
          <a:xfrm>
            <a:off x="274320" y="3931920"/>
            <a:ext cx="11612880" cy="475488"/>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3931920"/>
            <a:ext cx="548640" cy="47548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4023360"/>
            <a:ext cx="548640" cy="292608"/>
          </a:xfrm>
          <a:prstGeom prst="rect">
            <a:avLst/>
          </a:prstGeom>
          <a:noFill/>
        </p:spPr>
        <p:txBody>
          <a:bodyPr wrap="square">
            <a:spAutoFit/>
          </a:bodyPr>
          <a:lstStyle/>
          <a:p>
            <a:pPr algn="ctr"/>
            <a:r>
              <a:rPr sz="1400" b="1" i="0">
                <a:solidFill>
                  <a:srgbClr val="FFFFFF"/>
                </a:solidFill>
              </a:rPr>
              <a:t>F</a:t>
            </a:r>
          </a:p>
        </p:txBody>
      </p:sp>
      <p:sp>
        <p:nvSpPr>
          <p:cNvPr id="41" name="TextBox 40"/>
          <p:cNvSpPr txBox="1"/>
          <p:nvPr/>
        </p:nvSpPr>
        <p:spPr>
          <a:xfrm>
            <a:off x="960120" y="4023360"/>
            <a:ext cx="4114800" cy="292608"/>
          </a:xfrm>
          <a:prstGeom prst="rect">
            <a:avLst/>
          </a:prstGeom>
          <a:noFill/>
        </p:spPr>
        <p:txBody>
          <a:bodyPr wrap="square">
            <a:spAutoFit/>
          </a:bodyPr>
          <a:lstStyle/>
          <a:p>
            <a:pPr algn="l"/>
            <a:r>
              <a:rPr sz="1050" b="0" i="0">
                <a:solidFill>
                  <a:srgbClr val="3C3C3C"/>
                </a:solidFill>
              </a:rPr>
              <a:t>Pre-action permit</a:t>
            </a:r>
          </a:p>
        </p:txBody>
      </p:sp>
      <p:sp>
        <p:nvSpPr>
          <p:cNvPr id="42" name="TextBox 41"/>
          <p:cNvSpPr txBox="1"/>
          <p:nvPr/>
        </p:nvSpPr>
        <p:spPr>
          <a:xfrm>
            <a:off x="5166360" y="4023360"/>
            <a:ext cx="6675120" cy="292608"/>
          </a:xfrm>
          <a:prstGeom prst="rect">
            <a:avLst/>
          </a:prstGeom>
          <a:noFill/>
        </p:spPr>
        <p:txBody>
          <a:bodyPr wrap="square">
            <a:spAutoFit/>
          </a:bodyPr>
          <a:lstStyle/>
          <a:p>
            <a:pPr algn="l"/>
            <a:r>
              <a:rPr sz="1000" b="0" i="0">
                <a:solidFill>
                  <a:srgbClr val="C46200"/>
                </a:solidFill>
              </a:rPr>
              <a:t>0</a:t>
            </a:r>
          </a:p>
        </p:txBody>
      </p:sp>
      <p:sp>
        <p:nvSpPr>
          <p:cNvPr id="43" name="Rectangle 42"/>
          <p:cNvSpPr/>
          <p:nvPr/>
        </p:nvSpPr>
        <p:spPr>
          <a:xfrm>
            <a:off x="274320" y="4425696"/>
            <a:ext cx="11612880" cy="475488"/>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4425696"/>
            <a:ext cx="548640" cy="47548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517136"/>
            <a:ext cx="548640" cy="292608"/>
          </a:xfrm>
          <a:prstGeom prst="rect">
            <a:avLst/>
          </a:prstGeom>
          <a:noFill/>
        </p:spPr>
        <p:txBody>
          <a:bodyPr wrap="square">
            <a:spAutoFit/>
          </a:bodyPr>
          <a:lstStyle/>
          <a:p>
            <a:pPr algn="ctr"/>
            <a:r>
              <a:rPr sz="1400" b="1" i="0">
                <a:solidFill>
                  <a:srgbClr val="FFFFFF"/>
                </a:solidFill>
              </a:rPr>
              <a:t>G</a:t>
            </a:r>
          </a:p>
        </p:txBody>
      </p:sp>
      <p:sp>
        <p:nvSpPr>
          <p:cNvPr id="46" name="TextBox 45"/>
          <p:cNvSpPr txBox="1"/>
          <p:nvPr/>
        </p:nvSpPr>
        <p:spPr>
          <a:xfrm>
            <a:off x="960120" y="4517136"/>
            <a:ext cx="4114800" cy="292608"/>
          </a:xfrm>
          <a:prstGeom prst="rect">
            <a:avLst/>
          </a:prstGeom>
          <a:noFill/>
        </p:spPr>
        <p:txBody>
          <a:bodyPr wrap="square">
            <a:spAutoFit/>
          </a:bodyPr>
          <a:lstStyle/>
          <a:p>
            <a:pPr algn="l"/>
            <a:r>
              <a:rPr sz="1050" b="0" i="0">
                <a:solidFill>
                  <a:srgbClr val="3C3C3C"/>
                </a:solidFill>
              </a:rPr>
              <a:t>HTTP challenge signals</a:t>
            </a:r>
          </a:p>
        </p:txBody>
      </p:sp>
      <p:sp>
        <p:nvSpPr>
          <p:cNvPr id="47" name="TextBox 46"/>
          <p:cNvSpPr txBox="1"/>
          <p:nvPr/>
        </p:nvSpPr>
        <p:spPr>
          <a:xfrm>
            <a:off x="5166360" y="4517136"/>
            <a:ext cx="6675120" cy="292608"/>
          </a:xfrm>
          <a:prstGeom prst="rect">
            <a:avLst/>
          </a:prstGeom>
          <a:noFill/>
        </p:spPr>
        <p:txBody>
          <a:bodyPr wrap="square">
            <a:spAutoFit/>
          </a:bodyPr>
          <a:lstStyle/>
          <a:p>
            <a:pPr algn="l"/>
            <a:r>
              <a:rPr sz="1000" b="0" i="0">
                <a:solidFill>
                  <a:srgbClr val="C46200"/>
                </a:solidFill>
              </a:rPr>
              <a:t>0</a:t>
            </a:r>
          </a:p>
        </p:txBody>
      </p:sp>
      <p:sp>
        <p:nvSpPr>
          <p:cNvPr id="48" name="Rectangle 47"/>
          <p:cNvSpPr/>
          <p:nvPr/>
        </p:nvSpPr>
        <p:spPr>
          <a:xfrm>
            <a:off x="274320" y="4919472"/>
            <a:ext cx="11612880" cy="475488"/>
          </a:xfrm>
          <a:prstGeom prst="rect">
            <a:avLst/>
          </a:prstGeom>
          <a:solidFill>
            <a:srgbClr val="F9FBFD"/>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4919472"/>
            <a:ext cx="548640" cy="475488"/>
          </a:xfrm>
          <a:prstGeom prst="rect">
            <a:avLst/>
          </a:prstGeom>
          <a:solidFill>
            <a:srgbClr val="B3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5010912"/>
            <a:ext cx="548640" cy="292608"/>
          </a:xfrm>
          <a:prstGeom prst="rect">
            <a:avLst/>
          </a:prstGeom>
          <a:noFill/>
        </p:spPr>
        <p:txBody>
          <a:bodyPr wrap="square">
            <a:spAutoFit/>
          </a:bodyPr>
          <a:lstStyle/>
          <a:p>
            <a:pPr algn="ctr"/>
            <a:r>
              <a:rPr sz="1400" b="1" i="0">
                <a:solidFill>
                  <a:srgbClr val="FFFFFF"/>
                </a:solidFill>
              </a:rPr>
              <a:t>H</a:t>
            </a:r>
          </a:p>
        </p:txBody>
      </p:sp>
      <p:sp>
        <p:nvSpPr>
          <p:cNvPr id="51" name="TextBox 50"/>
          <p:cNvSpPr txBox="1"/>
          <p:nvPr/>
        </p:nvSpPr>
        <p:spPr>
          <a:xfrm>
            <a:off x="960120" y="5010912"/>
            <a:ext cx="4114800" cy="292608"/>
          </a:xfrm>
          <a:prstGeom prst="rect">
            <a:avLst/>
          </a:prstGeom>
          <a:noFill/>
        </p:spPr>
        <p:txBody>
          <a:bodyPr wrap="square">
            <a:spAutoFit/>
          </a:bodyPr>
          <a:lstStyle/>
          <a:p>
            <a:pPr algn="l"/>
            <a:r>
              <a:rPr sz="1050" b="0" i="0">
                <a:solidFill>
                  <a:srgbClr val="3C3C3C"/>
                </a:solidFill>
              </a:rPr>
              <a:t>AIP name collision</a:t>
            </a:r>
          </a:p>
        </p:txBody>
      </p:sp>
      <p:sp>
        <p:nvSpPr>
          <p:cNvPr id="52" name="TextBox 51"/>
          <p:cNvSpPr txBox="1"/>
          <p:nvPr/>
        </p:nvSpPr>
        <p:spPr>
          <a:xfrm>
            <a:off x="5166360" y="5010912"/>
            <a:ext cx="6675120" cy="292608"/>
          </a:xfrm>
          <a:prstGeom prst="rect">
            <a:avLst/>
          </a:prstGeom>
          <a:noFill/>
        </p:spPr>
        <p:txBody>
          <a:bodyPr wrap="square">
            <a:spAutoFit/>
          </a:bodyPr>
          <a:lstStyle/>
          <a:p>
            <a:pPr algn="l"/>
            <a:r>
              <a:rPr sz="1000" b="0" i="0">
                <a:solidFill>
                  <a:srgbClr val="B31212"/>
                </a:solidFill>
              </a:rPr>
              <a:t>0  —  BLOCKING</a:t>
            </a:r>
          </a:p>
        </p:txBody>
      </p:sp>
      <p:sp>
        <p:nvSpPr>
          <p:cNvPr id="53" name="Rectangle 52"/>
          <p:cNvSpPr/>
          <p:nvPr/>
        </p:nvSpPr>
        <p:spPr>
          <a:xfrm>
            <a:off x="274320" y="5413248"/>
            <a:ext cx="11612880" cy="475488"/>
          </a:xfrm>
          <a:prstGeom prst="rect">
            <a:avLst/>
          </a:prstGeom>
          <a:solidFill>
            <a:srgbClr val="FFFFFF"/>
          </a:solidFill>
          <a:ln w="9525">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4320" y="5413248"/>
            <a:ext cx="548640" cy="47548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5504688"/>
            <a:ext cx="548640" cy="292608"/>
          </a:xfrm>
          <a:prstGeom prst="rect">
            <a:avLst/>
          </a:prstGeom>
          <a:noFill/>
        </p:spPr>
        <p:txBody>
          <a:bodyPr wrap="square">
            <a:spAutoFit/>
          </a:bodyPr>
          <a:lstStyle/>
          <a:p>
            <a:pPr algn="ctr"/>
            <a:r>
              <a:rPr sz="1400" b="1" i="0">
                <a:solidFill>
                  <a:srgbClr val="FFFFFF"/>
                </a:solidFill>
              </a:rPr>
              <a:t>I</a:t>
            </a:r>
          </a:p>
        </p:txBody>
      </p:sp>
      <p:sp>
        <p:nvSpPr>
          <p:cNvPr id="56" name="TextBox 55"/>
          <p:cNvSpPr txBox="1"/>
          <p:nvPr/>
        </p:nvSpPr>
        <p:spPr>
          <a:xfrm>
            <a:off x="960120" y="5504688"/>
            <a:ext cx="4114800" cy="292608"/>
          </a:xfrm>
          <a:prstGeom prst="rect">
            <a:avLst/>
          </a:prstGeom>
          <a:noFill/>
        </p:spPr>
        <p:txBody>
          <a:bodyPr wrap="square">
            <a:spAutoFit/>
          </a:bodyPr>
          <a:lstStyle/>
          <a:p>
            <a:pPr algn="l"/>
            <a:r>
              <a:rPr sz="1050" b="0" i="0">
                <a:solidFill>
                  <a:srgbClr val="3C3C3C"/>
                </a:solidFill>
              </a:rPr>
              <a:t>WIMSE agent extensions</a:t>
            </a:r>
          </a:p>
        </p:txBody>
      </p:sp>
      <p:sp>
        <p:nvSpPr>
          <p:cNvPr id="57" name="TextBox 56"/>
          <p:cNvSpPr txBox="1"/>
          <p:nvPr/>
        </p:nvSpPr>
        <p:spPr>
          <a:xfrm>
            <a:off x="5166360" y="5504688"/>
            <a:ext cx="6675120" cy="292608"/>
          </a:xfrm>
          <a:prstGeom prst="rect">
            <a:avLst/>
          </a:prstGeom>
          <a:noFill/>
        </p:spPr>
        <p:txBody>
          <a:bodyPr wrap="square">
            <a:spAutoFit/>
          </a:bodyPr>
          <a:lstStyle/>
          <a:p>
            <a:pPr algn="l"/>
            <a:r>
              <a:rPr sz="1000" b="0" i="0">
                <a:solidFill>
                  <a:srgbClr val="256EB4"/>
                </a:solidFill>
              </a:rPr>
              <a:t>4 (WIMSE core, separate WG)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A — Transaction Token Extensions</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WG anchor: draft-ietf-oauth-transaction-tokens (WGLC, -09)</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256EB4"/>
                </a:solidFill>
              </a:rPr>
              <a:t>draft-araut-oauth-transaction-tokens-for-agents</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Profiles TxnTokens with three new claims — act (delegation actor), agentic_ctx (task metadata), and actchain (delegation chain) — giving resource servers a richer picture of which agent acted on whose behalf and in what context.</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B3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999999"/>
                </a:solidFill>
              </a:rPr>
              <a:t>draft-liu-oauth-a2a-profile  [EXPIRED]</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777777"/>
                </a:solidFill>
              </a:rPr>
              <a:t>Profiles TxnTokens specifically for agent-to-agent communication: embeds call-chain context to preserve agent identity, authorization, and operational flow across workloads in trusted environments. Same Huawei author pair as draft-ni-oauth-batch-authorization-delegation.</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256EB4"/>
                </a:solidFill>
              </a:rPr>
              <a:t>draft-zhu-oauth-async-delegation</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Introduces a Delegation Handle — a short-lived, sender-constrained token that lets an agent refresh its authorization asynchronously without re-prompting the user. Addresses the gap where TxnTokens cover synchronous flows but not long-running or background agent tasks.</a:t>
            </a:r>
          </a:p>
        </p:txBody>
      </p:sp>
      <p:sp>
        <p:nvSpPr>
          <p:cNvPr id="18" name="Rectangle 17"/>
          <p:cNvSpPr/>
          <p:nvPr/>
        </p:nvSpPr>
        <p:spPr>
          <a:xfrm>
            <a:off x="365760" y="352043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1188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611880"/>
            <a:ext cx="11247120" cy="274320"/>
          </a:xfrm>
          <a:prstGeom prst="rect">
            <a:avLst/>
          </a:prstGeom>
          <a:noFill/>
        </p:spPr>
        <p:txBody>
          <a:bodyPr wrap="square">
            <a:spAutoFit/>
          </a:bodyPr>
          <a:lstStyle/>
          <a:p>
            <a:pPr algn="l"/>
            <a:r>
              <a:rPr sz="1050" b="1" i="0">
                <a:solidFill>
                  <a:srgbClr val="256EB4"/>
                </a:solidFill>
              </a:rPr>
              <a:t>draft-fletcher-transaction-token-chaining-profile</a:t>
            </a:r>
          </a:p>
        </p:txBody>
      </p:sp>
      <p:sp>
        <p:nvSpPr>
          <p:cNvPr id="21" name="TextBox 20"/>
          <p:cNvSpPr txBox="1"/>
          <p:nvPr/>
        </p:nvSpPr>
        <p:spPr>
          <a:xfrm>
            <a:off x="530352" y="3886200"/>
            <a:ext cx="11247120" cy="402336"/>
          </a:xfrm>
          <a:prstGeom prst="rect">
            <a:avLst/>
          </a:prstGeom>
          <a:noFill/>
        </p:spPr>
        <p:txBody>
          <a:bodyPr wrap="square">
            <a:spAutoFit/>
          </a:bodyPr>
          <a:lstStyle/>
          <a:p>
            <a:pPr algn="l"/>
            <a:r>
              <a:rPr sz="1000" b="0" i="0">
                <a:solidFill>
                  <a:srgbClr val="3C3C3C"/>
                </a:solidFill>
              </a:rPr>
              <a:t>Uses a TxnToken as the subject token in an RFC 8693 Token Exchange to produce a JWT Authorization Grant that crosses trust-domain boundaries. Distinct problem from the WG draft: the WG scope is single-domain; this profile handles cross-domain traversal.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B — Cross-Domain Identity / Token Exchange</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WG anchor: draft-ietf-oauth-identity-chaining (IESG-approved, RFC Editor queue)</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008280"/>
                </a:solidFill>
              </a:rPr>
              <a:t>draft-mcguinness-oauth-id-assertion-framework</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Defines an Authority Delegation Model and an Issuer Trust Policy JSON document that specifies which issuers are authorized to assert identity into a given namespace. Provides the trust framework that identity-chaining assumes but does not specify.</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008280"/>
                </a:solidFill>
              </a:rPr>
              <a:t>draft-mcguinness-oauth-domain-authorized-issuer</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Implements the id-assertion-framework trust method using DNS TXT records at _oauth-issuer-policy to publish namespace authorization. Allows relying parties to discover which issuers are DNS-authorized for a domain without prior out-of-band configuration.</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008280"/>
                </a:solidFill>
              </a:rPr>
              <a:t>draft-mcguinness-token-xchg-target-svc-disco</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Defines how a client discovers the correct token-exchange endpoint for a target service. Fills the operational gap where identity-chaining defines the exchange mechanics but not how the client learns where to send the request.</a:t>
            </a:r>
          </a:p>
        </p:txBody>
      </p:sp>
      <p:sp>
        <p:nvSpPr>
          <p:cNvPr id="18" name="Rectangle 17"/>
          <p:cNvSpPr/>
          <p:nvPr/>
        </p:nvSpPr>
        <p:spPr>
          <a:xfrm>
            <a:off x="365760" y="352043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11880"/>
            <a:ext cx="54864" cy="65836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611880"/>
            <a:ext cx="11247120" cy="274320"/>
          </a:xfrm>
          <a:prstGeom prst="rect">
            <a:avLst/>
          </a:prstGeom>
          <a:noFill/>
        </p:spPr>
        <p:txBody>
          <a:bodyPr wrap="square">
            <a:spAutoFit/>
          </a:bodyPr>
          <a:lstStyle/>
          <a:p>
            <a:pPr algn="l"/>
            <a:r>
              <a:rPr sz="1050" b="1" i="0">
                <a:solidFill>
                  <a:srgbClr val="008280"/>
                </a:solidFill>
              </a:rPr>
              <a:t>draft-fletcher-transaction-token-chaining-profile</a:t>
            </a:r>
          </a:p>
        </p:txBody>
      </p:sp>
      <p:sp>
        <p:nvSpPr>
          <p:cNvPr id="21" name="TextBox 20"/>
          <p:cNvSpPr txBox="1"/>
          <p:nvPr/>
        </p:nvSpPr>
        <p:spPr>
          <a:xfrm>
            <a:off x="530352" y="3886200"/>
            <a:ext cx="11247120" cy="402336"/>
          </a:xfrm>
          <a:prstGeom prst="rect">
            <a:avLst/>
          </a:prstGeom>
          <a:noFill/>
        </p:spPr>
        <p:txBody>
          <a:bodyPr wrap="square">
            <a:spAutoFit/>
          </a:bodyPr>
          <a:lstStyle/>
          <a:p>
            <a:pPr algn="l"/>
            <a:r>
              <a:rPr sz="1000" b="0" i="0">
                <a:solidFill>
                  <a:srgbClr val="3C3C3C"/>
                </a:solidFill>
              </a:rPr>
              <a:t>Appears in both Cluster A and B: it composes identity-chaining with TxnTokens to enable cross-domain agent delegation while preserving the full delegation chain in the resulting token.</a:t>
            </a:r>
          </a:p>
        </p:txBody>
      </p:sp>
      <p:sp>
        <p:nvSpPr>
          <p:cNvPr id="22" name="Rectangle 21"/>
          <p:cNvSpPr/>
          <p:nvPr/>
        </p:nvSpPr>
        <p:spPr>
          <a:xfrm>
            <a:off x="365760" y="434340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434840"/>
            <a:ext cx="54864" cy="658368"/>
          </a:xfrm>
          <a:prstGeom prst="rect">
            <a:avLst/>
          </a:prstGeom>
          <a:solidFill>
            <a:srgbClr val="008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434840"/>
            <a:ext cx="11247120" cy="274320"/>
          </a:xfrm>
          <a:prstGeom prst="rect">
            <a:avLst/>
          </a:prstGeom>
          <a:noFill/>
        </p:spPr>
        <p:txBody>
          <a:bodyPr wrap="square">
            <a:spAutoFit/>
          </a:bodyPr>
          <a:lstStyle/>
          <a:p>
            <a:pPr algn="l"/>
            <a:r>
              <a:rPr sz="1050" b="1" i="0">
                <a:solidFill>
                  <a:srgbClr val="008280"/>
                </a:solidFill>
              </a:rPr>
              <a:t>draft-liu-oauth-chain-delegation</a:t>
            </a:r>
          </a:p>
        </p:txBody>
      </p:sp>
      <p:sp>
        <p:nvSpPr>
          <p:cNvPr id="25" name="TextBox 24"/>
          <p:cNvSpPr txBox="1"/>
          <p:nvPr/>
        </p:nvSpPr>
        <p:spPr>
          <a:xfrm>
            <a:off x="530352" y="4709159"/>
            <a:ext cx="11247120" cy="402336"/>
          </a:xfrm>
          <a:prstGeom prst="rect">
            <a:avLst/>
          </a:prstGeom>
          <a:noFill/>
        </p:spPr>
        <p:txBody>
          <a:bodyPr wrap="square">
            <a:spAutoFit/>
          </a:bodyPr>
          <a:lstStyle/>
          <a:p>
            <a:pPr algn="l"/>
            <a:r>
              <a:rPr sz="1000" b="0" i="0">
                <a:solidFill>
                  <a:srgbClr val="3C3C3C"/>
                </a:solidFill>
              </a:rPr>
              <a:t>Defines a delegation_chain array carrying per-hop authorization constraints within the token itself. Addresses cross-domain delegation lineage alongside identity-chaining's identity propagation.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C — Client Authentication / Instance Identity</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WG anchor: draft-ietf-oauth-attestation-based-client-auth (WG, -10)</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256EB4"/>
                </a:solidFill>
              </a:rPr>
              <a:t>draft-mcguinness-oauth-client-instance-assertion</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Extends the WG attestation framework with instance-level identity: an individual running process of a client asserts its own identity separately from the client software identity. Enables the AS to distinguish between two running instances of the same agent binary.</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256EB4"/>
                </a:solidFill>
              </a:rPr>
              <a:t>draft-mcguinness-oauth-ai-agent-instance</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Profiles client-instance-assertion specifically for AI agent platforms. Adds agent-specific metadata claims (model version, tool set, execution environment) so resource servers can make policy decisions based on the agent's runtime characteristics rather than just its software identity.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D — Actor Chain Representation</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No WG anchor — RFC 8693 defines the act claim but not chain validation rules or cryptographic verification</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C46200"/>
                </a:solidFill>
              </a:rPr>
              <a:t>draft-mcguinness-oauth-actor-profile</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Defines structural rules for the act claim: how to build, validate, and depth-limit delegation chains expressed as nested act objects. Establishes chain integrity invariants without requiring per-hop cryptography.</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C46200"/>
                </a:solidFill>
              </a:rPr>
              <a:t>draft-mcguinness-oauth-actor-receipts</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Adds per-hop signed receipts to the actor chain: each actor in the delegation chain produces a verifiable receipt that proves it handled the token at that hop, enabling post-hoc audit of who touched a token and in what order.</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C46200"/>
                </a:solidFill>
              </a:rPr>
              <a:t>draft-mcguinness-oauth-actor-proofs</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Adds hash-chained per-hop proof claims: each actor computes a proof over the previous hop's proof and its own assertion, creating a tamper-evident chain where any modification to an intermediate hop is detectable.</a:t>
            </a:r>
          </a:p>
        </p:txBody>
      </p:sp>
      <p:sp>
        <p:nvSpPr>
          <p:cNvPr id="18" name="Rectangle 17"/>
          <p:cNvSpPr/>
          <p:nvPr/>
        </p:nvSpPr>
        <p:spPr>
          <a:xfrm>
            <a:off x="365760" y="352043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1188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611880"/>
            <a:ext cx="11247120" cy="274320"/>
          </a:xfrm>
          <a:prstGeom prst="rect">
            <a:avLst/>
          </a:prstGeom>
          <a:noFill/>
        </p:spPr>
        <p:txBody>
          <a:bodyPr wrap="square">
            <a:spAutoFit/>
          </a:bodyPr>
          <a:lstStyle/>
          <a:p>
            <a:pPr algn="l"/>
            <a:r>
              <a:rPr sz="1050" b="1" i="0">
                <a:solidFill>
                  <a:srgbClr val="C46200"/>
                </a:solidFill>
              </a:rPr>
              <a:t>draft-mw-oauth-actor-chain</a:t>
            </a:r>
          </a:p>
        </p:txBody>
      </p:sp>
      <p:sp>
        <p:nvSpPr>
          <p:cNvPr id="21" name="TextBox 20"/>
          <p:cNvSpPr txBox="1"/>
          <p:nvPr/>
        </p:nvSpPr>
        <p:spPr>
          <a:xfrm>
            <a:off x="530352" y="3886200"/>
            <a:ext cx="11247120" cy="402336"/>
          </a:xfrm>
          <a:prstGeom prst="rect">
            <a:avLst/>
          </a:prstGeom>
          <a:noFill/>
        </p:spPr>
        <p:txBody>
          <a:bodyPr wrap="square">
            <a:spAutoFit/>
          </a:bodyPr>
          <a:lstStyle/>
          <a:p>
            <a:pPr algn="l"/>
            <a:r>
              <a:rPr sz="1000" b="0" i="0">
                <a:solidFill>
                  <a:srgbClr val="3C3C3C"/>
                </a:solidFill>
              </a:rPr>
              <a:t>Defines six cryptographic chain profiles organized across two axes (Declared vs. Verified binding × Full / Subset / Actor-Only chain) and directly addresses chain-splicing and chain-replay attacks. Comprehensive treatment at 97 pages.</a:t>
            </a:r>
          </a:p>
        </p:txBody>
      </p:sp>
      <p:sp>
        <p:nvSpPr>
          <p:cNvPr id="22" name="Rectangle 21"/>
          <p:cNvSpPr/>
          <p:nvPr/>
        </p:nvSpPr>
        <p:spPr>
          <a:xfrm>
            <a:off x="365760" y="434340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43484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434840"/>
            <a:ext cx="11247120" cy="274320"/>
          </a:xfrm>
          <a:prstGeom prst="rect">
            <a:avLst/>
          </a:prstGeom>
          <a:noFill/>
        </p:spPr>
        <p:txBody>
          <a:bodyPr wrap="square">
            <a:spAutoFit/>
          </a:bodyPr>
          <a:lstStyle/>
          <a:p>
            <a:pPr algn="l"/>
            <a:r>
              <a:rPr sz="1050" b="1" i="0">
                <a:solidFill>
                  <a:srgbClr val="C46200"/>
                </a:solidFill>
              </a:rPr>
              <a:t>draft-liu-oauth-chain-delegation</a:t>
            </a:r>
          </a:p>
        </p:txBody>
      </p:sp>
      <p:sp>
        <p:nvSpPr>
          <p:cNvPr id="25" name="TextBox 24"/>
          <p:cNvSpPr txBox="1"/>
          <p:nvPr/>
        </p:nvSpPr>
        <p:spPr>
          <a:xfrm>
            <a:off x="530352" y="4709159"/>
            <a:ext cx="11247120" cy="402336"/>
          </a:xfrm>
          <a:prstGeom prst="rect">
            <a:avLst/>
          </a:prstGeom>
          <a:noFill/>
        </p:spPr>
        <p:txBody>
          <a:bodyPr wrap="square">
            <a:spAutoFit/>
          </a:bodyPr>
          <a:lstStyle/>
          <a:p>
            <a:pPr algn="l"/>
            <a:r>
              <a:rPr sz="1000" b="0" i="0">
                <a:solidFill>
                  <a:srgbClr val="3C3C3C"/>
                </a:solidFill>
              </a:rPr>
              <a:t>Represents the delegation chain as a flat delegation_chain array (vs. nested act objects), with per-hop authorization constraints attached to each link. Co-authored by Aaron Parecki.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E — Token Attenuation / Sub-delegation</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No WG anchor — the OAuth WG recharter 'Complex Delegation' milestone is the expected adoption path</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C46200"/>
                </a:solidFill>
              </a:rPr>
              <a:t>draft-niyikiza-oauth-attenuating-agent-tokens</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Defines Attenuating Authorization Tokens (AATs): RFC 9396 RAR-based credentials that enforce monotonic narrowing — each delegation step can only remove permissions, never add. Supports offline chain verification without AS round-trips.</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C46200"/>
                </a:solidFill>
              </a:rPr>
              <a:t>draft-mishra-oauth-agent-grants (DAAP)</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Introduces new JWT claims (agt, dev, grnt, scp, bdg) for agent delegation with depth-limiting, cascade revocation (revoking a parent token invalidates all children), and budget-bounded grants that expire on resource consumption.</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C46200"/>
                </a:solidFill>
              </a:rPr>
              <a:t>draft-li-oauth-delegated-authorization</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Defines a hierarchical delegation token type where a client mints subordinate, narrowly-scoped access tokens for delegated parties without returning to the AS. Emphasizes client-side issuance for offline or low-latency scenarios.</a:t>
            </a:r>
          </a:p>
        </p:txBody>
      </p:sp>
      <p:sp>
        <p:nvSpPr>
          <p:cNvPr id="18" name="Rectangle 17"/>
          <p:cNvSpPr/>
          <p:nvPr/>
        </p:nvSpPr>
        <p:spPr>
          <a:xfrm>
            <a:off x="365760" y="352043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1188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611880"/>
            <a:ext cx="11247120" cy="274320"/>
          </a:xfrm>
          <a:prstGeom prst="rect">
            <a:avLst/>
          </a:prstGeom>
          <a:noFill/>
        </p:spPr>
        <p:txBody>
          <a:bodyPr wrap="square">
            <a:spAutoFit/>
          </a:bodyPr>
          <a:lstStyle/>
          <a:p>
            <a:pPr algn="l"/>
            <a:r>
              <a:rPr sz="1050" b="1" i="0">
                <a:solidFill>
                  <a:srgbClr val="C46200"/>
                </a:solidFill>
              </a:rPr>
              <a:t>draft-ni-oauth-batch-authorization-delegation</a:t>
            </a:r>
          </a:p>
        </p:txBody>
      </p:sp>
      <p:sp>
        <p:nvSpPr>
          <p:cNvPr id="21" name="TextBox 20"/>
          <p:cNvSpPr txBox="1"/>
          <p:nvPr/>
        </p:nvSpPr>
        <p:spPr>
          <a:xfrm>
            <a:off x="530352" y="3886200"/>
            <a:ext cx="11247120" cy="402336"/>
          </a:xfrm>
          <a:prstGeom prst="rect">
            <a:avLst/>
          </a:prstGeom>
          <a:noFill/>
        </p:spPr>
        <p:txBody>
          <a:bodyPr wrap="square">
            <a:spAutoFit/>
          </a:bodyPr>
          <a:lstStyle/>
          <a:p>
            <a:pPr algn="l"/>
            <a:r>
              <a:rPr sz="1000" b="0" i="0">
                <a:solidFill>
                  <a:srgbClr val="3C3C3C"/>
                </a:solidFill>
              </a:rPr>
              <a:t>Addresses multi-agent orchestration efficiency: a leader agent obtains a batch of RAR-based, actor-bound permissions in a single request and distributes subsets to sub-agents via RFC 8693 Token Exchange, reducing per-sub-agent round trips.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F — Pre-Action Authorization / Permit-Before-Commit</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No WG anchor — addresses the gap where standard OAuth authorizes resource access but not irreversible agent actions</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C46200"/>
                </a:solidFill>
              </a:rPr>
              <a:t>draft-lee-orprg-permit-receipts</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Abstract framework and requirements model for PermitReceipts — structured authorizations that a human or policy engine issues before an agent executes an irreversible action. Defines the data model and verifier roles without specifying a wire protocol.</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C46200"/>
                </a:solidFill>
              </a:rPr>
              <a:t>draft-nelson-agent-delegation-receipts</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Concrete protocol: the user's private key signs Authorization Objects before runtime; results are written to an append-only log. The most iterated draft in this space at revision -10, with implementations referenced.</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C46200"/>
                </a:solidFill>
              </a:rPr>
              <a:t>draft-williams-intent-token</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Lightweight alternative: a signed human-declared authorization envelope that travels alongside the OAuth access token. Explicitly positioned as a complement to OAuth rather than a replacement, with a minimal footprint suitable for constrained environments.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G — HTTP Authorization Challenge Signals</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No WG anchor — draft-ietf-oauth-first-party-apps covers user step-up, a related but distinct problem</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C46200"/>
                </a:solidFill>
              </a:rPr>
              <a:t>draft-rosomakho-oauth-txn-challenge</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RS-initiated: the resource server issues a transaction-specific challenge when it determines the current authorization is insufficient for the requested operation. The client returns to the AS for human approval of that specific transaction before retrying.</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C46200"/>
                </a:solidFill>
              </a:rPr>
              <a:t>draft-kahrer-oauth-client-challenge-protocol</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AS-initiated: the authorization server challenges the client to present additional assertions or verifiable credentials mid-flow. Addresses scenarios where the AS, not the RS, detects the insufficiency — for example when step-up policy changes after token issuance.</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C46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C46200"/>
                </a:solidFill>
              </a:rPr>
              <a:t>draft-mcguinness-oauth-insufficient-claims</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RS-initiated: the resource server signals precisely which credential claims are missing from the presented token, allowing the client to seek a targeted upgrade rather than a generic step-up. Complements WWW-Authenticate with a structured machine-readable claim list.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H — AIP Name Collision</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Three unrelated drafts share the acronym 'AIP' — no draft can progress until re-slugged</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11430000" cy="457200"/>
          </a:xfrm>
          <a:prstGeom prst="rect">
            <a:avLst/>
          </a:prstGeom>
          <a:solidFill>
            <a:srgbClr val="B3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16152"/>
            <a:ext cx="11155680" cy="347472"/>
          </a:xfrm>
          <a:prstGeom prst="rect">
            <a:avLst/>
          </a:prstGeom>
          <a:noFill/>
        </p:spPr>
        <p:txBody>
          <a:bodyPr wrap="square">
            <a:spAutoFit/>
          </a:bodyPr>
          <a:lstStyle/>
          <a:p>
            <a:pPr algn="l"/>
            <a:r>
              <a:rPr sz="1200" b="1" i="0">
                <a:solidFill>
                  <a:srgbClr val="FFFFFF"/>
                </a:solidFill>
              </a:rPr>
              <a:t>The IETF secretariat must force re-slugs before these drafts can be meaningfully compared or advance.</a:t>
            </a:r>
          </a:p>
        </p:txBody>
      </p:sp>
      <p:sp>
        <p:nvSpPr>
          <p:cNvPr id="9" name="Rectangle 8"/>
          <p:cNvSpPr/>
          <p:nvPr/>
        </p:nvSpPr>
        <p:spPr>
          <a:xfrm>
            <a:off x="365760" y="1783080"/>
            <a:ext cx="11430000" cy="347472"/>
          </a:xfrm>
          <a:prstGeom prst="rect">
            <a:avLst/>
          </a:prstGeom>
          <a:solidFill>
            <a:srgbClr val="F8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28800"/>
            <a:ext cx="11064240" cy="274320"/>
          </a:xfrm>
          <a:prstGeom prst="rect">
            <a:avLst/>
          </a:prstGeom>
          <a:noFill/>
        </p:spPr>
        <p:txBody>
          <a:bodyPr wrap="square">
            <a:spAutoFit/>
          </a:bodyPr>
          <a:lstStyle/>
          <a:p>
            <a:pPr algn="l"/>
            <a:r>
              <a:rPr sz="1100" b="1" i="0">
                <a:solidFill>
                  <a:srgbClr val="B31212"/>
                </a:solidFill>
              </a:rPr>
              <a:t>draft-singla-agent-identity-protocol  (AIP)</a:t>
            </a:r>
          </a:p>
        </p:txBody>
      </p:sp>
      <p:sp>
        <p:nvSpPr>
          <p:cNvPr id="11" name="TextBox 10"/>
          <p:cNvSpPr txBox="1"/>
          <p:nvPr/>
        </p:nvSpPr>
        <p:spPr>
          <a:xfrm>
            <a:off x="502920" y="2176272"/>
            <a:ext cx="11064240" cy="1005840"/>
          </a:xfrm>
          <a:prstGeom prst="rect">
            <a:avLst/>
          </a:prstGeom>
          <a:noFill/>
        </p:spPr>
        <p:txBody>
          <a:bodyPr wrap="square">
            <a:spAutoFit/>
          </a:bodyPr>
          <a:lstStyle/>
          <a:p>
            <a:pPr algn="l"/>
            <a:r>
              <a:rPr sz="1050" b="0" i="0">
                <a:solidFill>
                  <a:srgbClr val="3C3C3C"/>
                </a:solidFill>
              </a:rPr>
              <a:t>Broadest scope: a six-layer identity and authorization model spanning identity, trust establishment, permission scoping, grant issuance, consent, and reputation. Uses W3C DIDs as the identity substrate and defines three grant tiers (G1/G2/G3) for different delegation depths. 75+ pages.</a:t>
            </a:r>
          </a:p>
        </p:txBody>
      </p:sp>
      <p:sp>
        <p:nvSpPr>
          <p:cNvPr id="12" name="Rectangle 11"/>
          <p:cNvSpPr/>
          <p:nvPr/>
        </p:nvSpPr>
        <p:spPr>
          <a:xfrm>
            <a:off x="365760" y="3264408"/>
            <a:ext cx="11430000" cy="347472"/>
          </a:xfrm>
          <a:prstGeom prst="rect">
            <a:avLst/>
          </a:prstGeom>
          <a:solidFill>
            <a:srgbClr val="F8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10128"/>
            <a:ext cx="11064240" cy="274320"/>
          </a:xfrm>
          <a:prstGeom prst="rect">
            <a:avLst/>
          </a:prstGeom>
          <a:noFill/>
        </p:spPr>
        <p:txBody>
          <a:bodyPr wrap="square">
            <a:spAutoFit/>
          </a:bodyPr>
          <a:lstStyle/>
          <a:p>
            <a:pPr algn="l"/>
            <a:r>
              <a:rPr sz="1100" b="1" i="0">
                <a:solidFill>
                  <a:srgbClr val="B31212"/>
                </a:solidFill>
              </a:rPr>
              <a:t>draft-prakash-aip  (AIP)</a:t>
            </a:r>
          </a:p>
        </p:txBody>
      </p:sp>
      <p:sp>
        <p:nvSpPr>
          <p:cNvPr id="14" name="TextBox 13"/>
          <p:cNvSpPr txBox="1"/>
          <p:nvPr/>
        </p:nvSpPr>
        <p:spPr>
          <a:xfrm>
            <a:off x="502920" y="3657600"/>
            <a:ext cx="11064240" cy="1005840"/>
          </a:xfrm>
          <a:prstGeom prst="rect">
            <a:avLst/>
          </a:prstGeom>
          <a:noFill/>
        </p:spPr>
        <p:txBody>
          <a:bodyPr wrap="square">
            <a:spAutoFit/>
          </a:bodyPr>
          <a:lstStyle/>
          <a:p>
            <a:pPr algn="l"/>
            <a:r>
              <a:rPr sz="1050" b="0" i="0">
                <a:solidFill>
                  <a:srgbClr val="3C3C3C"/>
                </a:solidFill>
              </a:rPr>
              <a:t>Technically focused: defines Intent-Bound Capability Tokens (IBCTs) using JWT/Ed25519 and Biscuit+Datalog for policy expression. Includes concrete MCP and A2A protocol bindings. Datalog-based attenuation model enables offline policy evaluation without AS contact.</a:t>
            </a:r>
          </a:p>
        </p:txBody>
      </p:sp>
      <p:sp>
        <p:nvSpPr>
          <p:cNvPr id="15" name="Rectangle 14"/>
          <p:cNvSpPr/>
          <p:nvPr/>
        </p:nvSpPr>
        <p:spPr>
          <a:xfrm>
            <a:off x="365760" y="4745736"/>
            <a:ext cx="11430000" cy="347472"/>
          </a:xfrm>
          <a:prstGeom prst="rect">
            <a:avLst/>
          </a:prstGeom>
          <a:solidFill>
            <a:srgbClr val="F8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791456"/>
            <a:ext cx="11064240" cy="274320"/>
          </a:xfrm>
          <a:prstGeom prst="rect">
            <a:avLst/>
          </a:prstGeom>
          <a:noFill/>
        </p:spPr>
        <p:txBody>
          <a:bodyPr wrap="square">
            <a:spAutoFit/>
          </a:bodyPr>
          <a:lstStyle/>
          <a:p>
            <a:pPr algn="l"/>
            <a:r>
              <a:rPr sz="1100" b="1" i="0">
                <a:solidFill>
                  <a:srgbClr val="B31212"/>
                </a:solidFill>
              </a:rPr>
              <a:t>draft-aip-agent-identity-protocol  (AIP)</a:t>
            </a:r>
          </a:p>
        </p:txBody>
      </p:sp>
      <p:sp>
        <p:nvSpPr>
          <p:cNvPr id="17" name="TextBox 16"/>
          <p:cNvSpPr txBox="1"/>
          <p:nvPr/>
        </p:nvSpPr>
        <p:spPr>
          <a:xfrm>
            <a:off x="502920" y="5138928"/>
            <a:ext cx="11064240" cy="1005840"/>
          </a:xfrm>
          <a:prstGeom prst="rect">
            <a:avLst/>
          </a:prstGeom>
          <a:noFill/>
        </p:spPr>
        <p:txBody>
          <a:bodyPr wrap="square">
            <a:spAutoFit/>
          </a:bodyPr>
          <a:lstStyle/>
          <a:p>
            <a:pPr algn="l"/>
            <a:r>
              <a:rPr sz="1050" b="0" i="0">
                <a:solidFill>
                  <a:srgbClr val="3C3C3C"/>
                </a:solidFill>
              </a:rPr>
              <a:t>Operationally focused: introduces per-tool-call AIP Tokens, YAML-based policy definitions, and an HITL proxy pattern for human-in-the-loop approval of individual tool invocations. Significant conceptual overlap with draft-singla-agent-identity-protocol.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400" b="1" i="0">
                <a:solidFill>
                  <a:srgbClr val="FFFFFF"/>
                </a:solidFill>
              </a:rPr>
              <a:t>Cluster I — WIMSE Extensions for AI Agents</a:t>
            </a:r>
          </a:p>
        </p:txBody>
      </p:sp>
      <p:sp>
        <p:nvSpPr>
          <p:cNvPr id="4" name="TextBox 3"/>
          <p:cNvSpPr txBox="1"/>
          <p:nvPr/>
        </p:nvSpPr>
        <p:spPr>
          <a:xfrm>
            <a:off x="320040" y="658368"/>
            <a:ext cx="11430000" cy="365760"/>
          </a:xfrm>
          <a:prstGeom prst="rect">
            <a:avLst/>
          </a:prstGeom>
          <a:noFill/>
        </p:spPr>
        <p:txBody>
          <a:bodyPr wrap="square">
            <a:spAutoFit/>
          </a:bodyPr>
          <a:lstStyle/>
          <a:p>
            <a:pPr algn="l"/>
            <a:r>
              <a:rPr sz="1200" b="0" i="0">
                <a:solidFill>
                  <a:srgbClr val="B8D0ED"/>
                </a:solidFill>
              </a:rPr>
              <a:t>WIMSE WG core suite (arch, identifier, mutual-tls, http-signature) provides the foundation; these drafts extend it to AI agent use cases</a:t>
            </a:r>
          </a:p>
        </p:txBody>
      </p:sp>
      <p:sp>
        <p:nvSpPr>
          <p:cNvPr id="5" name="Rectangle 4"/>
          <p:cNvSpPr/>
          <p:nvPr/>
        </p:nvSpPr>
        <p:spPr>
          <a:xfrm>
            <a:off x="0" y="6537960"/>
            <a:ext cx="12191695" cy="3200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6556248"/>
            <a:ext cx="11521440" cy="274320"/>
          </a:xfrm>
          <a:prstGeom prst="rect">
            <a:avLst/>
          </a:prstGeom>
          <a:noFill/>
        </p:spPr>
        <p:txBody>
          <a:bodyPr wrap="square">
            <a:spAutoFit/>
          </a:bodyPr>
          <a:lstStyle/>
          <a:p>
            <a:pPr algn="l"/>
            <a:r>
              <a:rPr sz="800" b="0" i="0">
                <a:solidFill>
                  <a:srgbClr val="B8D0ED"/>
                </a:solidFill>
              </a:rPr>
              <a:t>IETF Agent Authorization — Cluster Analysis  |  July 2026</a:t>
            </a:r>
          </a:p>
        </p:txBody>
      </p:sp>
      <p:sp>
        <p:nvSpPr>
          <p:cNvPr id="7" name="Rectangle 6"/>
          <p:cNvSpPr/>
          <p:nvPr/>
        </p:nvSpPr>
        <p:spPr>
          <a:xfrm>
            <a:off x="365760" y="114300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1247120" cy="274320"/>
          </a:xfrm>
          <a:prstGeom prst="rect">
            <a:avLst/>
          </a:prstGeom>
          <a:noFill/>
        </p:spPr>
        <p:txBody>
          <a:bodyPr wrap="square">
            <a:spAutoFit/>
          </a:bodyPr>
          <a:lstStyle/>
          <a:p>
            <a:pPr algn="l"/>
            <a:r>
              <a:rPr sz="1050" b="1" i="0">
                <a:solidFill>
                  <a:srgbClr val="256EB4"/>
                </a:solidFill>
              </a:rPr>
              <a:t>draft-ni-wimse-ai-agent-identity  (-02)</a:t>
            </a:r>
          </a:p>
        </p:txBody>
      </p:sp>
      <p:sp>
        <p:nvSpPr>
          <p:cNvPr id="9" name="TextBox 8"/>
          <p:cNvSpPr txBox="1"/>
          <p:nvPr/>
        </p:nvSpPr>
        <p:spPr>
          <a:xfrm>
            <a:off x="530352" y="1417320"/>
            <a:ext cx="11247120" cy="402336"/>
          </a:xfrm>
          <a:prstGeom prst="rect">
            <a:avLst/>
          </a:prstGeom>
          <a:noFill/>
        </p:spPr>
        <p:txBody>
          <a:bodyPr wrap="square">
            <a:spAutoFit/>
          </a:bodyPr>
          <a:lstStyle/>
          <a:p>
            <a:pPr algn="l"/>
            <a:r>
              <a:rPr sz="1000" b="0" i="0">
                <a:solidFill>
                  <a:srgbClr val="3C3C3C"/>
                </a:solidFill>
              </a:rPr>
              <a:t>Applicability statement mapping the WIMSE workload identity framework to AI agent deployments. Defines how WIMSE identifiers, credential formats, and trust establishment apply when the workload is an AI agent rather than a traditional microservice.</a:t>
            </a:r>
          </a:p>
        </p:txBody>
      </p:sp>
      <p:sp>
        <p:nvSpPr>
          <p:cNvPr id="10" name="Rectangle 9"/>
          <p:cNvSpPr/>
          <p:nvPr/>
        </p:nvSpPr>
        <p:spPr>
          <a:xfrm>
            <a:off x="365760" y="187451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6596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965960"/>
            <a:ext cx="11247120" cy="274320"/>
          </a:xfrm>
          <a:prstGeom prst="rect">
            <a:avLst/>
          </a:prstGeom>
          <a:noFill/>
        </p:spPr>
        <p:txBody>
          <a:bodyPr wrap="square">
            <a:spAutoFit/>
          </a:bodyPr>
          <a:lstStyle/>
          <a:p>
            <a:pPr algn="l"/>
            <a:r>
              <a:rPr sz="1050" b="1" i="0">
                <a:solidFill>
                  <a:srgbClr val="256EB4"/>
                </a:solidFill>
              </a:rPr>
              <a:t>draft-reece-wimse-cross-org-delegation</a:t>
            </a:r>
          </a:p>
        </p:txBody>
      </p:sp>
      <p:sp>
        <p:nvSpPr>
          <p:cNvPr id="13" name="TextBox 12"/>
          <p:cNvSpPr txBox="1"/>
          <p:nvPr/>
        </p:nvSpPr>
        <p:spPr>
          <a:xfrm>
            <a:off x="530352" y="2240279"/>
            <a:ext cx="11247120" cy="402336"/>
          </a:xfrm>
          <a:prstGeom prst="rect">
            <a:avLst/>
          </a:prstGeom>
          <a:noFill/>
        </p:spPr>
        <p:txBody>
          <a:bodyPr wrap="square">
            <a:spAutoFit/>
          </a:bodyPr>
          <a:lstStyle/>
          <a:p>
            <a:pPr algn="l"/>
            <a:r>
              <a:rPr sz="1000" b="0" i="0">
                <a:solidFill>
                  <a:srgbClr val="3C3C3C"/>
                </a:solidFill>
              </a:rPr>
              <a:t>Problem statement for the cross-organization delegation gap: when an agent credential issued in one organization's WIMSE domain must be accepted by a resource in another domain, the WIMSE core provides no standard mechanism for cross-domain trust establishment.</a:t>
            </a:r>
          </a:p>
        </p:txBody>
      </p:sp>
      <p:sp>
        <p:nvSpPr>
          <p:cNvPr id="14" name="Rectangle 13"/>
          <p:cNvSpPr/>
          <p:nvPr/>
        </p:nvSpPr>
        <p:spPr>
          <a:xfrm>
            <a:off x="365760" y="269748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8892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788920"/>
            <a:ext cx="11247120" cy="274320"/>
          </a:xfrm>
          <a:prstGeom prst="rect">
            <a:avLst/>
          </a:prstGeom>
          <a:noFill/>
        </p:spPr>
        <p:txBody>
          <a:bodyPr wrap="square">
            <a:spAutoFit/>
          </a:bodyPr>
          <a:lstStyle/>
          <a:p>
            <a:pPr algn="l"/>
            <a:r>
              <a:rPr sz="1050" b="1" i="0">
                <a:solidFill>
                  <a:srgbClr val="256EB4"/>
                </a:solidFill>
              </a:rPr>
              <a:t>draft-jiang-wimse-heterogeneous-credential</a:t>
            </a:r>
          </a:p>
        </p:txBody>
      </p:sp>
      <p:sp>
        <p:nvSpPr>
          <p:cNvPr id="17" name="TextBox 16"/>
          <p:cNvSpPr txBox="1"/>
          <p:nvPr/>
        </p:nvSpPr>
        <p:spPr>
          <a:xfrm>
            <a:off x="530352" y="3063239"/>
            <a:ext cx="11247120" cy="402336"/>
          </a:xfrm>
          <a:prstGeom prst="rect">
            <a:avLst/>
          </a:prstGeom>
          <a:noFill/>
        </p:spPr>
        <p:txBody>
          <a:bodyPr wrap="square">
            <a:spAutoFit/>
          </a:bodyPr>
          <a:lstStyle/>
          <a:p>
            <a:pPr algn="l"/>
            <a:r>
              <a:rPr sz="1000" b="0" i="0">
                <a:solidFill>
                  <a:srgbClr val="3C3C3C"/>
                </a:solidFill>
              </a:rPr>
              <a:t>Defines multi-format credential verification across heterogeneous WIMSE deployments where different organizations use different credential formats (SPIFFE SVIDs, JWTs, X.509). Enables interoperability without requiring format normalization upfront.</a:t>
            </a:r>
          </a:p>
        </p:txBody>
      </p:sp>
      <p:sp>
        <p:nvSpPr>
          <p:cNvPr id="18" name="Rectangle 17"/>
          <p:cNvSpPr/>
          <p:nvPr/>
        </p:nvSpPr>
        <p:spPr>
          <a:xfrm>
            <a:off x="365760" y="352043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1188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611880"/>
            <a:ext cx="11247120" cy="274320"/>
          </a:xfrm>
          <a:prstGeom prst="rect">
            <a:avLst/>
          </a:prstGeom>
          <a:noFill/>
        </p:spPr>
        <p:txBody>
          <a:bodyPr wrap="square">
            <a:spAutoFit/>
          </a:bodyPr>
          <a:lstStyle/>
          <a:p>
            <a:pPr algn="l"/>
            <a:r>
              <a:rPr sz="1050" b="1" i="0">
                <a:solidFill>
                  <a:srgbClr val="256EB4"/>
                </a:solidFill>
              </a:rPr>
              <a:t>draft-schwenkschuster-wimse-trust-domain-discovery</a:t>
            </a:r>
          </a:p>
        </p:txBody>
      </p:sp>
      <p:sp>
        <p:nvSpPr>
          <p:cNvPr id="21" name="TextBox 20"/>
          <p:cNvSpPr txBox="1"/>
          <p:nvPr/>
        </p:nvSpPr>
        <p:spPr>
          <a:xfrm>
            <a:off x="530352" y="3886200"/>
            <a:ext cx="11247120" cy="402336"/>
          </a:xfrm>
          <a:prstGeom prst="rect">
            <a:avLst/>
          </a:prstGeom>
          <a:noFill/>
        </p:spPr>
        <p:txBody>
          <a:bodyPr wrap="square">
            <a:spAutoFit/>
          </a:bodyPr>
          <a:lstStyle/>
          <a:p>
            <a:pPr algn="l"/>
            <a:r>
              <a:rPr sz="1000" b="0" i="0">
                <a:solidFill>
                  <a:srgbClr val="3C3C3C"/>
                </a:solidFill>
              </a:rPr>
              <a:t>Specifies a WIMSE Trust Bundle format and a /.well-known/wimse-trust-domain discovery endpoint for obtaining cryptographic trust anchors. Companions draft-ietf-oauth-spiffe-client-auth (already WG-adopted) for the OAuth-facing side of WIMSE trust.</a:t>
            </a:r>
          </a:p>
        </p:txBody>
      </p:sp>
      <p:sp>
        <p:nvSpPr>
          <p:cNvPr id="22" name="Rectangle 21"/>
          <p:cNvSpPr/>
          <p:nvPr/>
        </p:nvSpPr>
        <p:spPr>
          <a:xfrm>
            <a:off x="365760" y="4343400"/>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43484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434840"/>
            <a:ext cx="11247120" cy="274320"/>
          </a:xfrm>
          <a:prstGeom prst="rect">
            <a:avLst/>
          </a:prstGeom>
          <a:noFill/>
        </p:spPr>
        <p:txBody>
          <a:bodyPr wrap="square">
            <a:spAutoFit/>
          </a:bodyPr>
          <a:lstStyle/>
          <a:p>
            <a:pPr algn="l"/>
            <a:r>
              <a:rPr sz="1050" b="1" i="0">
                <a:solidFill>
                  <a:srgbClr val="256EB4"/>
                </a:solidFill>
              </a:rPr>
              <a:t>draft-winmagic-wimse-condition-bounded-credentials</a:t>
            </a:r>
          </a:p>
        </p:txBody>
      </p:sp>
      <p:sp>
        <p:nvSpPr>
          <p:cNvPr id="25" name="TextBox 24"/>
          <p:cNvSpPr txBox="1"/>
          <p:nvPr/>
        </p:nvSpPr>
        <p:spPr>
          <a:xfrm>
            <a:off x="530352" y="4709159"/>
            <a:ext cx="11247120" cy="402336"/>
          </a:xfrm>
          <a:prstGeom prst="rect">
            <a:avLst/>
          </a:prstGeom>
          <a:noFill/>
        </p:spPr>
        <p:txBody>
          <a:bodyPr wrap="square">
            <a:spAutoFit/>
          </a:bodyPr>
          <a:lstStyle/>
          <a:p>
            <a:pPr algn="l"/>
            <a:r>
              <a:rPr sz="1000" b="0" i="0">
                <a:solidFill>
                  <a:srgbClr val="3C3C3C"/>
                </a:solidFill>
              </a:rPr>
              <a:t>Defines credential profiles where validity is gated by attested runtime conditions (security posture, environment state) rather than a fixed expiry time. Enables agents operating in disconnected or air-gapped environments to hold credentials that remain valid only while conditions hold.</a:t>
            </a:r>
          </a:p>
        </p:txBody>
      </p:sp>
      <p:sp>
        <p:nvSpPr>
          <p:cNvPr id="26" name="Rectangle 25"/>
          <p:cNvSpPr/>
          <p:nvPr/>
        </p:nvSpPr>
        <p:spPr>
          <a:xfrm>
            <a:off x="365760" y="5166359"/>
            <a:ext cx="11430000" cy="9144"/>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257800"/>
            <a:ext cx="54864" cy="658368"/>
          </a:xfrm>
          <a:prstGeom prst="rect">
            <a:avLst/>
          </a:prstGeom>
          <a:solidFill>
            <a:srgbClr val="25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5257800"/>
            <a:ext cx="11247120" cy="274320"/>
          </a:xfrm>
          <a:prstGeom prst="rect">
            <a:avLst/>
          </a:prstGeom>
          <a:noFill/>
        </p:spPr>
        <p:txBody>
          <a:bodyPr wrap="square">
            <a:spAutoFit/>
          </a:bodyPr>
          <a:lstStyle/>
          <a:p>
            <a:pPr algn="l"/>
            <a:r>
              <a:rPr sz="1050" b="1" i="0">
                <a:solidFill>
                  <a:srgbClr val="256EB4"/>
                </a:solidFill>
              </a:rPr>
              <a:t>draft-munoz-wimse-authorization-evidence</a:t>
            </a:r>
          </a:p>
        </p:txBody>
      </p:sp>
      <p:sp>
        <p:nvSpPr>
          <p:cNvPr id="29" name="TextBox 28"/>
          <p:cNvSpPr txBox="1"/>
          <p:nvPr/>
        </p:nvSpPr>
        <p:spPr>
          <a:xfrm>
            <a:off x="530352" y="5532120"/>
            <a:ext cx="11247120" cy="402336"/>
          </a:xfrm>
          <a:prstGeom prst="rect">
            <a:avLst/>
          </a:prstGeom>
          <a:noFill/>
        </p:spPr>
        <p:txBody>
          <a:bodyPr wrap="square">
            <a:spAutoFit/>
          </a:bodyPr>
          <a:lstStyle/>
          <a:p>
            <a:pPr algn="l"/>
            <a:r>
              <a:rPr sz="1000" b="0" i="0">
                <a:solidFill>
                  <a:srgbClr val="3C3C3C"/>
                </a:solidFill>
              </a:rPr>
              <a:t>Defines signed authorization-evidence records that capture what a WIMSE-identified workload was authorized to do at the time of execution. Enables post-hoc audit without requiring a live AS query.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